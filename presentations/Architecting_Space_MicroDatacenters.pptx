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8.xml" ContentType="application/vnd.openxmlformats-officedocument.theme+xml"/>
  <Override PartName="/ppt/theme/theme2.xml" ContentType="application/vnd.openxmlformats-officedocument.theme+xml"/>
  <Override PartName="/ppt/theme/theme29.xml" ContentType="application/vnd.openxmlformats-officedocument.theme+xml"/>
  <Override PartName="/ppt/theme/theme17.xml" ContentType="application/vnd.openxmlformats-officedocument.theme+xml"/>
  <Override PartName="/ppt/theme/theme6.xml" ContentType="application/vnd.openxmlformats-officedocument.theme+xml"/>
  <Override PartName="/ppt/theme/theme13.xml" ContentType="application/vnd.openxmlformats-officedocument.theme+xml"/>
  <Override PartName="/ppt/theme/theme18.xml" ContentType="application/vnd.openxmlformats-officedocument.theme+xml"/>
  <Override PartName="/ppt/theme/theme7.xml" ContentType="application/vnd.openxmlformats-officedocument.theme+xml"/>
  <Override PartName="/ppt/theme/theme14.xml" ContentType="application/vnd.openxmlformats-officedocument.theme+xml"/>
  <Override PartName="/ppt/theme/theme19.xml" ContentType="application/vnd.openxmlformats-officedocument.theme+xml"/>
  <Override PartName="/ppt/theme/theme10.xml" ContentType="application/vnd.openxmlformats-officedocument.theme+xml"/>
  <Override PartName="/ppt/theme/theme3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11.xml" ContentType="application/vnd.openxmlformats-officedocument.theme+xml"/>
  <Override PartName="/ppt/theme/theme4.xml" ContentType="application/vnd.openxmlformats-officedocument.theme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12.xml" ContentType="application/vnd.openxmlformats-officedocument.theme+xml"/>
  <Override PartName="/ppt/theme/theme5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25.xml" ContentType="application/vnd.openxmlformats-officedocument.theme+xml"/>
  <Override PartName="/ppt/theme/theme40.xml" ContentType="application/vnd.openxmlformats-officedocument.theme+xml"/>
  <Override PartName="/ppt/theme/theme26.xml" ContentType="application/vnd.openxmlformats-officedocument.theme+xml"/>
  <Override PartName="/ppt/theme/theme41.xml" ContentType="application/vnd.openxmlformats-officedocument.theme+xml"/>
  <Override PartName="/ppt/theme/theme36.xml" ContentType="application/vnd.openxmlformats-officedocument.theme+xml"/>
  <Override PartName="/ppt/theme/theme27.xml" ContentType="application/vnd.openxmlformats-officedocument.theme+xml"/>
  <Override PartName="/ppt/theme/theme42.xml" ContentType="application/vnd.openxmlformats-officedocument.theme+xml"/>
  <Override PartName="/ppt/theme/theme37.xml" ContentType="application/vnd.openxmlformats-officedocument.theme+xml"/>
  <Override PartName="/ppt/theme/theme43.xml" ContentType="application/vnd.openxmlformats-officedocument.theme+xml"/>
  <Override PartName="/ppt/theme/theme38.xml" ContentType="application/vnd.openxmlformats-officedocument.theme+xml"/>
  <Override PartName="/ppt/theme/theme44.xml" ContentType="application/vnd.openxmlformats-officedocument.theme+xml"/>
  <Override PartName="/ppt/theme/theme39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4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7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9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6" r:id="rId39"/>
    <p:sldMasterId id="2147483728" r:id="rId40"/>
    <p:sldMasterId id="2147483730" r:id="rId41"/>
    <p:sldMasterId id="2147483732" r:id="rId42"/>
    <p:sldMasterId id="2147483734" r:id="rId43"/>
    <p:sldMasterId id="2147483736" r:id="rId44"/>
    <p:sldMasterId id="2147483738" r:id="rId45"/>
    <p:sldMasterId id="2147483740" r:id="rId46"/>
  </p:sldMasterIdLst>
  <p:notesMasterIdLst>
    <p:notesMasterId r:id="rId47"/>
  </p:notesMasterIdLst>
  <p:sldIdLst>
    <p:sldId id="256" r:id="rId48"/>
    <p:sldId id="257" r:id="rId49"/>
    <p:sldId id="258" r:id="rId50"/>
    <p:sldId id="259" r:id="rId51"/>
    <p:sldId id="260" r:id="rId52"/>
    <p:sldId id="261" r:id="rId53"/>
    <p:sldId id="262" r:id="rId54"/>
    <p:sldId id="263" r:id="rId55"/>
    <p:sldId id="264" r:id="rId56"/>
    <p:sldId id="265" r:id="rId57"/>
    <p:sldId id="266" r:id="rId58"/>
    <p:sldId id="267" r:id="rId59"/>
    <p:sldId id="268" r:id="rId6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notesMaster" Target="notesMasters/notesMaster1.xml"/><Relationship Id="rId48" Type="http://schemas.openxmlformats.org/officeDocument/2006/relationships/slide" Target="slides/slide1.xml"/><Relationship Id="rId49" Type="http://schemas.openxmlformats.org/officeDocument/2006/relationships/slide" Target="slides/slide2.xml"/><Relationship Id="rId50" Type="http://schemas.openxmlformats.org/officeDocument/2006/relationships/slide" Target="slides/slide3.xml"/><Relationship Id="rId51" Type="http://schemas.openxmlformats.org/officeDocument/2006/relationships/slide" Target="slides/slide4.xml"/><Relationship Id="rId52" Type="http://schemas.openxmlformats.org/officeDocument/2006/relationships/slide" Target="slides/slide5.xml"/><Relationship Id="rId53" Type="http://schemas.openxmlformats.org/officeDocument/2006/relationships/slide" Target="slides/slide6.xml"/><Relationship Id="rId54" Type="http://schemas.openxmlformats.org/officeDocument/2006/relationships/slide" Target="slides/slide7.xml"/><Relationship Id="rId55" Type="http://schemas.openxmlformats.org/officeDocument/2006/relationships/slide" Target="slides/slide8.xml"/><Relationship Id="rId56" Type="http://schemas.openxmlformats.org/officeDocument/2006/relationships/slide" Target="slides/slide9.xml"/><Relationship Id="rId57" Type="http://schemas.openxmlformats.org/officeDocument/2006/relationships/slide" Target="slides/slide10.xml"/><Relationship Id="rId58" Type="http://schemas.openxmlformats.org/officeDocument/2006/relationships/slide" Target="slides/slide11.xml"/><Relationship Id="rId59" Type="http://schemas.openxmlformats.org/officeDocument/2006/relationships/slide" Target="slides/slide12.xml"/><Relationship Id="rId60" Type="http://schemas.openxmlformats.org/officeDocument/2006/relationships/slide" Target="slides/slide13.xml"/><Relationship Id="rId6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dt" idx="4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 type="ftr" idx="4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2" name="PlaceHolder 6"/>
          <p:cNvSpPr>
            <a:spLocks noGrp="1"/>
          </p:cNvSpPr>
          <p:nvPr>
            <p:ph type="sldNum" idx="4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4030042-D07C-4466-88E0-2B230DD9FC40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5600" cy="307404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4160" cy="358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5956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B80975-82A9-4104-BC50-21EBBCD5EB10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5600" cy="307404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4160" cy="358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5956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FC0C91-AE21-428A-82F8-75EEA8AE8EC9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5600" cy="307404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4160" cy="358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5956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D56F54-1793-49A8-B8FB-4FECA8DE2EB9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5600" cy="307404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4160" cy="358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5956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B45E01-D647-4DE6-BA9C-6338F890E81C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5600" cy="307404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4160" cy="358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5956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7EE39D-904B-4E0C-8865-9EF422243602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5600" cy="307404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4160" cy="358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5956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0E3C4D-28A2-47FC-997C-C6C920D6FA06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5600" cy="307404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4160" cy="358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5956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4BB56C-048B-4F0B-AD6B-57089E756346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5600" cy="307404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4160" cy="358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5956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EEE6FE-DB2A-4150-B201-901458044129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5600" cy="307404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4160" cy="358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5956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214B8F-2C90-400B-B062-659ABEC3D787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5600" cy="307404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4160" cy="358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5956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826012-6A35-4112-AF3D-7FD263343A7C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5600" cy="307404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4160" cy="358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5956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CCED7A-1E9B-46B6-898E-49D9429E6976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5600" cy="307404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4160" cy="358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5956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D15726-7067-43E1-88E3-560D7C123E75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080" y="1143000"/>
            <a:ext cx="5475600" cy="307404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4160" cy="358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59560" cy="44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5ABECD-F7B8-40C9-8D85-17ADE18F1E25}" type="slidenum">
              <a:rPr b="0" lang="en" sz="1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4E898C2-6338-413D-B8CB-39116DC596D5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4C56B4-5D9E-4914-8B45-F343E0DED4A2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E8B535-FBE6-4D85-A13D-0BD3BDEF2EBC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4209A5E-B634-4D56-8B87-6D43147A7AA7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5C5517F-6C8D-429E-827B-82DBA98E6B00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D556A9-F3EB-49F0-B5D4-E2AC0D583E65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95E029A-82DD-441F-921B-E77ED7C84A0C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D050D59-FD74-4C53-8638-F4F764599AB9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187FCB9-DE19-42C6-9484-DF8DE1D6D7F7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C5E5D36-D5C4-4221-8564-69D218B0401E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C4C8977-3106-4757-AD70-3A64F6A8A677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35BE5BB-A54C-47DD-A33C-A6456B99F7DC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C7403AD0-7840-4552-B5B3-E6D2313825F1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7B2B484-74FB-4C0A-85E1-6A94213CC5AF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BFFB963-9364-41D6-B09A-7B776CD08EB4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3D301421-7410-4FCE-9514-F0D87FB260FB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74F5C5A-5D81-4D80-AC01-B76F9945E77A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C9573C9-6D97-40EA-A83D-C8A8BFE25DC7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7176099C-EB57-4495-9B30-A1D3FB94D252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EA9C81A-136D-400E-9D31-05F35DEB5853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2B39B6D-9F88-4460-ACC5-FE5A096F37E3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17D6E5DC-F1DA-4788-8926-86EDD1F4A9A4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EBED516-1C0E-4526-8E1C-B11FA795249C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D0B0563-B277-43B7-967F-F102BFC5C0DA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11B26C21-A1C2-4A87-AA73-51314F62BB53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6B8B83C-C118-407C-B903-43F03FE2EACA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F1A58D6-C0E9-4731-AB9D-2A2D5517645D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AE905AE6-56C5-4164-92DA-F9EF359F6E64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1CD31BF4-A2A7-4725-90D0-B2EB8BFBFB2F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C0EE5F8-D552-4193-82B7-16E3DEB57800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3702E98E-EBFC-4A05-B33C-E183F9358900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55295DD6-031E-4866-AE39-4ACBE7917027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690599E-5EB5-47B6-B39B-6788E87371E1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2C1905B1-3B43-4F16-A9D1-D417346A2FBC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817196A4-BE9E-4484-995E-253FDE54661F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353583E2-8E83-45E1-BC00-042BC6CE6739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F01209BA-2CCA-4C4B-8E8A-148E151E783B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77AF7582-C2C2-4206-AE74-1EC74DEA8F72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04E0351A-97A6-4375-9F58-FC8EDDF6DFAF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E4640A1F-6F53-4089-850B-E63E75A0842B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2C118A6C-24AF-4EE2-AD12-18E6FDA80108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4B1BC64-1F65-4958-B597-A7E293FAE753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BC715756-7DDD-46A3-AFE3-938CFA79AE51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368FD71C-B0B5-4F47-A201-23F0CF888CB1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619680A2-4C6B-476E-B1D7-F95E26D2CCEF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9D38224B-0076-4B66-ACCD-B9C42B7E8851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3"/>
          </p:nvPr>
        </p:nvSpPr>
        <p:spPr/>
        <p:txBody>
          <a:bodyPr/>
          <a:p>
            <a:fld id="{26A1C0CD-A4C0-4D70-A825-966E1C3E6FFD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54490127-5A7A-4AB7-80F7-A7BFB1122EEF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6EBC119E-99E6-4B98-99F9-5EF766577A38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42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43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4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5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6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7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8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6C4FF8-4527-4138-A5A3-D31B106DD39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8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CCB151-97C5-4C78-B0BD-80B0F4930D8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46260C-F140-4175-A790-08D7E0FF147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E4181A-982D-4762-8D54-8CEEEFE197D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C169C8-C28A-4AF6-8A9F-3E893EF6C61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BEDB60-368E-4282-9412-78A60D1708B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43D6D6-E2B4-42D7-9EDF-74E6C74A9A2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E6EBDF-3BD1-43F5-8A7E-564F1343026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322560-2A6C-482B-8A91-57840AD8AC9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2B517D-EFE7-4848-8166-44D039525D4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95B61F-A007-4537-BC60-F0DDB417A5D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A8670D-91E1-40DC-85B7-C9975F0A77E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D3EEE2-38E1-4A5E-98C4-1557E17CA2A5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9EDB27-E4DD-4B45-A4C7-F30CC025DF7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3A087C-BA98-497C-8DAE-75720BD6118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596873-A546-443B-AB54-072791DC9F4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7A2009-5B6B-44D5-AD68-681BA57D2FF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8645E6-36EE-4AED-A0E7-5542B0E0392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2522E6-7F5C-4944-BC31-554DE299A15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724870-FACB-4B9F-BEAF-D05D82471502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F0C86E-031D-44E1-B2E1-EC68519E476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1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750FF7-0752-43D5-8A44-F99B275B26D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7C89E7-60D6-4792-BDE6-BE14AEC9153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46D3F3-3237-41B3-B266-B166FEA68A0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F3C4F2-FFB9-4E15-A08A-AB22B1413C4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432954-1769-4C0F-8194-47BA91324F5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27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C22F65-64C8-4059-B9E5-EF616241ADC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28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4D2A61-FFAA-4508-997A-57AB47333DE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ldNum" idx="29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31931A-7747-45C8-8C33-25EE3F111AC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sldNum" idx="30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A92B95-6269-4198-B985-77AFF4F5D040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31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9EA926-F505-47AC-A6BA-8E5F374ED9A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ldNum" idx="32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1C319C-7134-4A5B-947D-B265FF975087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ldNum" idx="33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79693E-026F-437A-8F05-4457D0F5F85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sldNum" idx="34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032BA9-24AD-4B7F-AD53-C032FA0D97A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35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D7CC2D-4574-4C82-86FC-3983D2C2702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36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1993A6-B426-4A4E-AAA9-2F61BEAF347C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Num" idx="37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520EA8-CDB5-49F3-846E-AB9B46066CA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  <p:sldLayoutId id="2147483722" r:id="rId3"/>
    <p:sldLayoutId id="2147483723" r:id="rId4"/>
    <p:sldLayoutId id="2147483724" r:id="rId5"/>
    <p:sldLayoutId id="2147483725" r:id="rId6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Num" idx="38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EA5F75-3463-4856-9AA4-ED5AD04D428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39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A5FE1A-5FBC-4000-980D-FD905BB6125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sldNum" idx="40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8D2BC7-2E60-4931-B193-6B04DB9B74D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sldNum" idx="41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0A25EB-6729-416B-BF85-0A15F638DE6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Num" idx="42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C2E273-3F18-48D3-B2B0-736C0FFCEB3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Num" idx="43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262C2D-BBE2-4CAB-9D46-F993FADC1FC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36;p9"/>
          <p:cNvSpPr/>
          <p:nvPr/>
        </p:nvSpPr>
        <p:spPr>
          <a:xfrm>
            <a:off x="4572000" y="0"/>
            <a:ext cx="4566240" cy="5137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sldNum" idx="44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FFB53E-E76E-44AD-8996-38CCDBDE791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Num" idx="45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E2B3B8-453D-48AA-BAF2-9DBE4A8218AF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834480" y="527400"/>
            <a:ext cx="7468920" cy="17593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ctr">
            <a:noAutofit/>
          </a:bodyPr>
          <a:p>
            <a:pPr indent="0" algn="ctr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2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Architecting Space Microdatacenters:</a:t>
            </a:r>
            <a:br>
              <a:rPr sz="2600"/>
            </a:br>
            <a:r>
              <a:rPr b="1" lang="en" sz="26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 System Level Approach</a:t>
            </a:r>
            <a:br>
              <a:rPr sz="1600"/>
            </a:br>
            <a:r>
              <a:rPr b="0" lang="en" sz="1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By: Nathan Bleier, Rick Eason, Michael Lembeck and Rakesh Kumar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04" name="Google Shape;56;p13"/>
          <p:cNvCxnSpPr/>
          <p:nvPr/>
        </p:nvCxnSpPr>
        <p:spPr>
          <a:xfrm>
            <a:off x="204480" y="2304720"/>
            <a:ext cx="8740800" cy="61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cxnSp>
        <p:nvCxnSpPr>
          <p:cNvPr id="205" name="Google Shape;57;p13"/>
          <p:cNvCxnSpPr/>
          <p:nvPr/>
        </p:nvCxnSpPr>
        <p:spPr>
          <a:xfrm>
            <a:off x="204480" y="3948840"/>
            <a:ext cx="8740800" cy="61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206" name="PlaceHolder 2"/>
          <p:cNvSpPr>
            <a:spLocks noGrp="1"/>
          </p:cNvSpPr>
          <p:nvPr>
            <p:ph type="sldNum" idx="49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F767BC-FCCF-4AB5-A61E-77938670396A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7" name="Google Shape;59;p13"/>
          <p:cNvSpPr/>
          <p:nvPr/>
        </p:nvSpPr>
        <p:spPr>
          <a:xfrm>
            <a:off x="1946880" y="2244240"/>
            <a:ext cx="5244840" cy="16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Presentation By: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" sz="19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Will Buziak</a:t>
            </a:r>
            <a:br>
              <a:rPr sz="1900"/>
            </a:br>
            <a:r>
              <a:rPr b="0" lang="en" sz="17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Department of Computer Science</a:t>
            </a:r>
            <a:br>
              <a:rPr sz="1700"/>
            </a:br>
            <a:r>
              <a:rPr b="0" lang="en" sz="17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Colorado School of Mines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Google Shape;60;p13"/>
          <p:cNvSpPr/>
          <p:nvPr/>
        </p:nvSpPr>
        <p:spPr>
          <a:xfrm>
            <a:off x="3071880" y="3948480"/>
            <a:ext cx="2994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br>
              <a:rPr sz="1800"/>
            </a:br>
            <a:r>
              <a:rPr b="0" lang="en" sz="18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November, 2025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61760" cy="9172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Background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5109480" cy="41932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Datacenters are a source of increasing controversy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Resource hogs (space, water, energy)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Unattractive additions to their environments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As a result, people have proposed the idea of placing datacenters in space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11" name="Google Shape;68;p14"/>
          <p:cNvCxnSpPr/>
          <p:nvPr/>
        </p:nvCxnSpPr>
        <p:spPr>
          <a:xfrm>
            <a:off x="204480" y="721440"/>
            <a:ext cx="8740800" cy="61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212" name="PlaceHolder 3"/>
          <p:cNvSpPr>
            <a:spLocks noGrp="1"/>
          </p:cNvSpPr>
          <p:nvPr>
            <p:ph type="sldNum" idx="50"/>
          </p:nvPr>
        </p:nvSpPr>
        <p:spPr>
          <a:xfrm>
            <a:off x="8472600" y="463356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18389F-EAD7-4A1B-BE57-53456C3F8AA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1"/>
          <a:stretch/>
        </p:blipFill>
        <p:spPr>
          <a:xfrm>
            <a:off x="5453280" y="1085400"/>
            <a:ext cx="3439080" cy="1929600"/>
          </a:xfrm>
          <a:prstGeom prst="rect">
            <a:avLst/>
          </a:prstGeom>
          <a:ln w="0">
            <a:noFill/>
          </a:ln>
        </p:spPr>
      </p:pic>
      <p:sp>
        <p:nvSpPr>
          <p:cNvPr id="214" name=""/>
          <p:cNvSpPr/>
          <p:nvPr/>
        </p:nvSpPr>
        <p:spPr>
          <a:xfrm>
            <a:off x="8458200" y="3082680"/>
            <a:ext cx="456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[2]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61760" cy="9172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Motivating Space Microdatacenters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8386920" cy="30502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Substantial bottlenecks for server-based processing in space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Immense application-specific benefits: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Lower-latency satellite imaging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Forest-fire detection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Military / Defense applications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17" name="Google Shape;68;p 1"/>
          <p:cNvCxnSpPr/>
          <p:nvPr/>
        </p:nvCxnSpPr>
        <p:spPr>
          <a:xfrm>
            <a:off x="204480" y="721440"/>
            <a:ext cx="8740800" cy="61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218" name="PlaceHolder 3"/>
          <p:cNvSpPr>
            <a:spLocks noGrp="1"/>
          </p:cNvSpPr>
          <p:nvPr>
            <p:ph type="sldNum" idx="51"/>
          </p:nvPr>
        </p:nvSpPr>
        <p:spPr>
          <a:xfrm>
            <a:off x="8472600" y="463356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52E26B-0FFA-45C9-BFFB-73C48660CD8B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685800" y="3657600"/>
            <a:ext cx="7543080" cy="1142280"/>
          </a:xfrm>
          <a:prstGeom prst="roundRect">
            <a:avLst>
              <a:gd name="adj" fmla="val 16667"/>
            </a:avLst>
          </a:prstGeom>
          <a:solidFill>
            <a:srgbClr val="ffe99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Contribution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: No prior work on architecture design for space data-centers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61760" cy="9172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Total Cost of Ownership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8386920" cy="37360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Instead of simply evaluate the cost of a space data-center, this paper sums the major design challenges into a TCO: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Largely considers energy along with communication costs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Extends an existing satellite cost model to consider compute hardware and thermal management 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22" name="Google Shape;68;p 2"/>
          <p:cNvCxnSpPr/>
          <p:nvPr/>
        </p:nvCxnSpPr>
        <p:spPr>
          <a:xfrm>
            <a:off x="204480" y="721440"/>
            <a:ext cx="8740800" cy="61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223" name="PlaceHolder 3"/>
          <p:cNvSpPr>
            <a:spLocks noGrp="1"/>
          </p:cNvSpPr>
          <p:nvPr>
            <p:ph type="sldNum" idx="52"/>
          </p:nvPr>
        </p:nvSpPr>
        <p:spPr>
          <a:xfrm>
            <a:off x="8472600" y="463356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433D77-F832-41D8-B4AA-9C2882A91DB4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685800" y="3657600"/>
            <a:ext cx="7543080" cy="1142280"/>
          </a:xfrm>
          <a:prstGeom prst="roundRect">
            <a:avLst>
              <a:gd name="adj" fmla="val 16667"/>
            </a:avLst>
          </a:prstGeom>
          <a:solidFill>
            <a:srgbClr val="ffe994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Major Takeaway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: TCO depends strongly on power of compute while compute mass, monetary cost &amp; communication are relatively insignificant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61760" cy="9172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Non-compute &gt; Compute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8386920" cy="37360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Commercial compute hardware is relatively cheap compared to custom satellite components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Costs increase sub-linearly as the size of the compute payload increases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Computer hardware is light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27" name="Google Shape;68;p 3"/>
          <p:cNvCxnSpPr/>
          <p:nvPr/>
        </p:nvCxnSpPr>
        <p:spPr>
          <a:xfrm>
            <a:off x="204480" y="721440"/>
            <a:ext cx="8740800" cy="61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228" name="PlaceHolder 3"/>
          <p:cNvSpPr>
            <a:spLocks noGrp="1"/>
          </p:cNvSpPr>
          <p:nvPr>
            <p:ph type="sldNum" idx="53"/>
          </p:nvPr>
        </p:nvSpPr>
        <p:spPr>
          <a:xfrm>
            <a:off x="8472600" y="463356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C8A740-3D7E-41B7-95CE-5BE6652F44B9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229" name="" descr=""/>
          <p:cNvPicPr/>
          <p:nvPr/>
        </p:nvPicPr>
        <p:blipFill>
          <a:blip r:embed="rId1"/>
          <a:srcRect l="0" t="396" r="0" b="0"/>
          <a:stretch/>
        </p:blipFill>
        <p:spPr>
          <a:xfrm>
            <a:off x="4546800" y="2286000"/>
            <a:ext cx="4605480" cy="248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61760" cy="9172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Power is the primary design constraint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8386920" cy="44218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Costs can increase &gt; 3x when power changes from .5 kW to 10kW: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Must account for fuel costs, proportional to the mass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Thermal management is limited to radiation in a vacuum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Servers comprise up to 72% of costs* in terrestrial datacenters, while power is less than 10%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Key Takeaway</a:t>
            </a: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: Must buy NVIDIA H100s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32" name="Google Shape;68;p 4"/>
          <p:cNvCxnSpPr/>
          <p:nvPr/>
        </p:nvCxnSpPr>
        <p:spPr>
          <a:xfrm>
            <a:off x="204480" y="721440"/>
            <a:ext cx="8740800" cy="61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233" name="PlaceHolder 3"/>
          <p:cNvSpPr>
            <a:spLocks noGrp="1"/>
          </p:cNvSpPr>
          <p:nvPr>
            <p:ph type="sldNum" idx="54"/>
          </p:nvPr>
        </p:nvSpPr>
        <p:spPr>
          <a:xfrm>
            <a:off x="8472600" y="463356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CDA027-7E85-4A51-8491-53236837253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61760" cy="9172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Power-informed Architecture Design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8386920" cy="44218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 algn="ctr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Since satellite size and on-board thermal management become limiting factors, applications are often processed in batches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7784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Arrange micro-datacenters into compute “constellations”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7784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Hope that launch and micro-datacenter reproducibility become cheaper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“</a:t>
            </a:r>
            <a:r>
              <a:rPr b="0" lang="en" sz="21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Computer hardware which is 100x more energy efficient costs 3x more”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36" name="Google Shape;68;p 6"/>
          <p:cNvCxnSpPr/>
          <p:nvPr/>
        </p:nvCxnSpPr>
        <p:spPr>
          <a:xfrm>
            <a:off x="204480" y="721440"/>
            <a:ext cx="8740800" cy="61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237" name="PlaceHolder 3"/>
          <p:cNvSpPr>
            <a:spLocks noGrp="1"/>
          </p:cNvSpPr>
          <p:nvPr>
            <p:ph type="sldNum" idx="55"/>
          </p:nvPr>
        </p:nvSpPr>
        <p:spPr>
          <a:xfrm>
            <a:off x="8472600" y="463356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04391B-BFCF-4559-B5A8-C58160E9A6B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238" name="" descr=""/>
          <p:cNvPicPr/>
          <p:nvPr/>
        </p:nvPicPr>
        <p:blipFill>
          <a:blip r:embed="rId1"/>
          <a:srcRect l="0" t="0" r="0" b="40078"/>
          <a:stretch/>
        </p:blipFill>
        <p:spPr>
          <a:xfrm>
            <a:off x="2241360" y="2956320"/>
            <a:ext cx="4660920" cy="916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61760" cy="9172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Heterogeneous Accelerator Architecture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3999600" cy="44218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 algn="ctr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a) Single accelerator runs all workloads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b) Each network has its own accelerator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c) Each layer of each network is assigned an accelerator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For each pipeline, every layer’s output is double-buffered for asynchronous execution</a:t>
            </a:r>
            <a:br>
              <a:rPr sz="2200"/>
            </a:b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41" name="Google Shape;68;p 7"/>
          <p:cNvCxnSpPr/>
          <p:nvPr/>
        </p:nvCxnSpPr>
        <p:spPr>
          <a:xfrm>
            <a:off x="204480" y="721440"/>
            <a:ext cx="8740800" cy="61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242" name="PlaceHolder 3"/>
          <p:cNvSpPr>
            <a:spLocks noGrp="1"/>
          </p:cNvSpPr>
          <p:nvPr>
            <p:ph type="sldNum" idx="56"/>
          </p:nvPr>
        </p:nvSpPr>
        <p:spPr>
          <a:xfrm>
            <a:off x="8472600" y="463356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562A50-471D-4ABC-A0CF-2BDB6ED4B7A8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243" name="" descr=""/>
          <p:cNvPicPr/>
          <p:nvPr/>
        </p:nvPicPr>
        <p:blipFill>
          <a:blip r:embed="rId1"/>
          <a:stretch/>
        </p:blipFill>
        <p:spPr>
          <a:xfrm>
            <a:off x="4460400" y="935280"/>
            <a:ext cx="4296960" cy="377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61760" cy="9172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Heterogeneous Accelerator Architecture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45" name="Google Shape;68;p 5"/>
          <p:cNvCxnSpPr/>
          <p:nvPr/>
        </p:nvCxnSpPr>
        <p:spPr>
          <a:xfrm>
            <a:off x="204480" y="721440"/>
            <a:ext cx="8740800" cy="61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246" name="PlaceHolder 2"/>
          <p:cNvSpPr>
            <a:spLocks noGrp="1"/>
          </p:cNvSpPr>
          <p:nvPr>
            <p:ph type="sldNum" idx="57"/>
          </p:nvPr>
        </p:nvSpPr>
        <p:spPr>
          <a:xfrm>
            <a:off x="8472600" y="463356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A9F102-4746-4ED7-B2FE-ABD0B5AE5E21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247" name="" descr=""/>
          <p:cNvPicPr/>
          <p:nvPr/>
        </p:nvPicPr>
        <p:blipFill>
          <a:blip r:embed="rId1"/>
          <a:stretch/>
        </p:blipFill>
        <p:spPr>
          <a:xfrm>
            <a:off x="57240" y="1376280"/>
            <a:ext cx="4430520" cy="2352960"/>
          </a:xfrm>
          <a:prstGeom prst="rect">
            <a:avLst/>
          </a:prstGeom>
          <a:ln w="0">
            <a:noFill/>
          </a:ln>
        </p:spPr>
      </p:pic>
      <p:pic>
        <p:nvPicPr>
          <p:cNvPr id="248" name="" descr=""/>
          <p:cNvPicPr/>
          <p:nvPr/>
        </p:nvPicPr>
        <p:blipFill>
          <a:blip r:embed="rId2"/>
          <a:stretch/>
        </p:blipFill>
        <p:spPr>
          <a:xfrm>
            <a:off x="4558320" y="1216800"/>
            <a:ext cx="4439880" cy="330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61760" cy="9172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Conclusion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8386920" cy="3489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Energy Efficiency is the most important design factor when considering space data-centers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Hardware costs are insignificant compared to thermal management and mass implications on satellite design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8088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Times New Roman"/>
              <a:buChar char="•"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Utilizing a distributed, heterogeneous accelerator architecture is the most cost-effective way to structure micro-datacenters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51" name="Google Shape;189;p26"/>
          <p:cNvCxnSpPr/>
          <p:nvPr/>
        </p:nvCxnSpPr>
        <p:spPr>
          <a:xfrm>
            <a:off x="204480" y="721440"/>
            <a:ext cx="8740800" cy="61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252" name="PlaceHolder 3"/>
          <p:cNvSpPr>
            <a:spLocks noGrp="1"/>
          </p:cNvSpPr>
          <p:nvPr>
            <p:ph type="sldNum" idx="58"/>
          </p:nvPr>
        </p:nvSpPr>
        <p:spPr>
          <a:xfrm>
            <a:off x="8472600" y="463356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C59308-C936-4FDC-B053-EDBF94297906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61760" cy="9172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Strengths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343080" y="530280"/>
            <a:ext cx="8386920" cy="3489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Constructs an architectural design perspective based on a cost analysis of satellites and space data-centers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Considers learning rates (Wright’s Law) and allows this to influence the best decision for the time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55" name="Google Shape;198;p 1"/>
          <p:cNvCxnSpPr/>
          <p:nvPr/>
        </p:nvCxnSpPr>
        <p:spPr>
          <a:xfrm>
            <a:off x="204480" y="721440"/>
            <a:ext cx="8740800" cy="61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256" name="PlaceHolder 3"/>
          <p:cNvSpPr>
            <a:spLocks noGrp="1"/>
          </p:cNvSpPr>
          <p:nvPr>
            <p:ph type="sldNum" idx="59"/>
          </p:nvPr>
        </p:nvSpPr>
        <p:spPr>
          <a:xfrm>
            <a:off x="8472600" y="463356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CEE9F0-5021-4B1D-8E90-1C6979EDCF0E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61760" cy="9172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Weaknesses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343080" y="530280"/>
            <a:ext cx="8386920" cy="348912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Does not propose much for managing end-of-life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Does not discuss the usefulness for LLM or other common cloud application, despite being a major motivation for the idea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Constructs arguments based on their own model of a terrestrial datacenter, instead of modeling the idea of placing an existing terrestrial datacenter in space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240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Architecture discussion is limited to cost tradeoffs rather than how your architecture can be optimized to improve what you have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59" name="Google Shape;198;p 3"/>
          <p:cNvCxnSpPr/>
          <p:nvPr/>
        </p:nvCxnSpPr>
        <p:spPr>
          <a:xfrm>
            <a:off x="204480" y="721440"/>
            <a:ext cx="8740800" cy="61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260" name="PlaceHolder 3"/>
          <p:cNvSpPr>
            <a:spLocks noGrp="1"/>
          </p:cNvSpPr>
          <p:nvPr>
            <p:ph type="sldNum" idx="60"/>
          </p:nvPr>
        </p:nvSpPr>
        <p:spPr>
          <a:xfrm>
            <a:off x="8472600" y="463356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A7EBE9-E373-4E1B-8B44-23A41B4B3A93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1487160" y="171360"/>
            <a:ext cx="6161760" cy="91728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Sources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343080" y="606600"/>
            <a:ext cx="8309520" cy="4415040"/>
          </a:xfrm>
          <a:prstGeom prst="rect">
            <a:avLst/>
          </a:prstGeom>
          <a:noFill/>
          <a:ln w="0">
            <a:noFill/>
          </a:ln>
        </p:spPr>
        <p:txBody>
          <a:bodyPr lIns="67680" rIns="67680" tIns="33840" bIns="33840" anchor="t">
            <a:noAutofit/>
          </a:bodyPr>
          <a:p>
            <a:pPr marL="1778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[1] </a:t>
            </a:r>
            <a:r>
              <a:rPr b="0" lang="en" sz="1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 Nathan Bleier, Rick Eason, Michael Lembeck and Rakesh Kumar</a:t>
            </a:r>
            <a:r>
              <a:rPr b="0" lang="en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, Architecting Space Microdatacenters: A System Level Approach, In: </a:t>
            </a:r>
            <a:r>
              <a:rPr b="0" i="1" lang="en" sz="1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2025 IEEE International Symposium on High-Performance Computer Architecture.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[2] https://www.geekwire.com/2025/lumen-orbit-starcloud-10m-space-data-centers/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7840" indent="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63" name="Google Shape;207;p28"/>
          <p:cNvCxnSpPr/>
          <p:nvPr/>
        </p:nvCxnSpPr>
        <p:spPr>
          <a:xfrm>
            <a:off x="204480" y="721440"/>
            <a:ext cx="8740800" cy="6120"/>
          </a:xfrm>
          <a:prstGeom prst="straightConnector1">
            <a:avLst/>
          </a:prstGeom>
          <a:ln w="57225">
            <a:solidFill>
              <a:srgbClr val="0b5394"/>
            </a:solidFill>
            <a:miter/>
          </a:ln>
        </p:spPr>
      </p:cxnSp>
      <p:sp>
        <p:nvSpPr>
          <p:cNvPr id="264" name="PlaceHolder 3"/>
          <p:cNvSpPr>
            <a:spLocks noGrp="1"/>
          </p:cNvSpPr>
          <p:nvPr>
            <p:ph type="sldNum" idx="61"/>
          </p:nvPr>
        </p:nvSpPr>
        <p:spPr>
          <a:xfrm>
            <a:off x="8472600" y="463356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C9DA9E-6DA2-426E-815D-DB12F1404D2D}" type="slidenum">
              <a:rPr b="0" lang="en" sz="10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</TotalTime>
  <Application>LibreOffice/24.8.2.1$MacOSX_AARCH64 LibreOffice_project/0f794b6e29741098670a3b95d60478a65d05ef13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2025-11-19T10:42:08Z</dcterms:modified>
  <cp:revision>41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