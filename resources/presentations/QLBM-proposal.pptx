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5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69.xml" ContentType="application/vnd.openxmlformats-officedocument.theme+xml"/>
  <Override PartName="/ppt/theme/theme3.xml" ContentType="application/vnd.openxmlformats-officedocument.theme+xml"/>
  <Override PartName="/ppt/theme/theme57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5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6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27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37.xml" ContentType="application/vnd.openxmlformats-officedocument.theme+xml"/>
  <Override PartName="/ppt/theme/theme70.xml" ContentType="application/vnd.openxmlformats-officedocument.theme+xml"/>
  <Override PartName="/ppt/theme/theme38.xml" ContentType="application/vnd.openxmlformats-officedocument.theme+xml"/>
  <Override PartName="/ppt/theme/theme71.xml" ContentType="application/vnd.openxmlformats-officedocument.theme+xml"/>
  <Override PartName="/ppt/theme/theme39.xml" ContentType="application/vnd.openxmlformats-officedocument.theme+xml"/>
  <Override PartName="/ppt/theme/theme72.xml" ContentType="application/vnd.openxmlformats-officedocument.theme+xml"/>
  <Override PartName="/ppt/theme/theme67.xml" ContentType="application/vnd.openxmlformats-officedocument.theme+xml"/>
  <Override PartName="/ppt/theme/theme73.xml" ContentType="application/vnd.openxmlformats-officedocument.theme+xml"/>
  <Override PartName="/ppt/theme/theme68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24.xml" ContentType="application/vnd.openxmlformats-officedocument.theme+xml"/>
  <Override PartName="/ppt/theme/theme77.xml" ContentType="application/vnd.openxmlformats-officedocument.theme+xml"/>
  <Override PartName="/ppt/theme/theme25.xml" ContentType="application/vnd.openxmlformats-officedocument.theme+xml"/>
  <Override PartName="/ppt/theme/theme78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77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7.xml.rels" ContentType="application/vnd.openxmlformats-package.relationships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_rels/presentation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_rels/slideLayout8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81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4" r:id="rId63"/>
    <p:sldMasterId id="2147483776" r:id="rId64"/>
    <p:sldMasterId id="2147483778" r:id="rId65"/>
    <p:sldMasterId id="2147483780" r:id="rId66"/>
    <p:sldMasterId id="2147483782" r:id="rId67"/>
    <p:sldMasterId id="2147483784" r:id="rId68"/>
    <p:sldMasterId id="2147483786" r:id="rId69"/>
    <p:sldMasterId id="2147483788" r:id="rId70"/>
    <p:sldMasterId id="2147483790" r:id="rId71"/>
    <p:sldMasterId id="2147483792" r:id="rId72"/>
    <p:sldMasterId id="2147483794" r:id="rId73"/>
    <p:sldMasterId id="2147483796" r:id="rId74"/>
    <p:sldMasterId id="2147483798" r:id="rId75"/>
    <p:sldMasterId id="2147483800" r:id="rId76"/>
    <p:sldMasterId id="2147483802" r:id="rId77"/>
    <p:sldMasterId id="2147483804" r:id="rId78"/>
  </p:sldMasterIdLst>
  <p:notesMasterIdLst>
    <p:notesMasterId r:id="rId79"/>
  </p:notesMasterIdLst>
  <p:sldIdLst>
    <p:sldId id="256" r:id="rId80"/>
    <p:sldId id="257" r:id="rId81"/>
    <p:sldId id="258" r:id="rId82"/>
    <p:sldId id="259" r:id="rId83"/>
    <p:sldId id="260" r:id="rId84"/>
    <p:sldId id="261" r:id="rId85"/>
    <p:sldId id="262" r:id="rId86"/>
    <p:sldId id="263" r:id="rId87"/>
    <p:sldId id="264" r:id="rId88"/>
    <p:sldId id="265" r:id="rId89"/>
    <p:sldId id="266" r:id="rId90"/>
    <p:sldId id="267" r:id="rId91"/>
    <p:sldId id="268" r:id="rId92"/>
    <p:sldId id="269" r:id="rId93"/>
  </p:sldIdLst>
  <p:sldSz cx="9144000" cy="514826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notesMaster" Target="notesMasters/notesMaster1.xml"/><Relationship Id="rId80" Type="http://schemas.openxmlformats.org/officeDocument/2006/relationships/slide" Target="slides/slide1.xml"/><Relationship Id="rId81" Type="http://schemas.openxmlformats.org/officeDocument/2006/relationships/slide" Target="slides/slide2.xml"/><Relationship Id="rId82" Type="http://schemas.openxmlformats.org/officeDocument/2006/relationships/slide" Target="slides/slide3.xml"/><Relationship Id="rId83" Type="http://schemas.openxmlformats.org/officeDocument/2006/relationships/slide" Target="slides/slide4.xml"/><Relationship Id="rId84" Type="http://schemas.openxmlformats.org/officeDocument/2006/relationships/slide" Target="slides/slide5.xml"/><Relationship Id="rId85" Type="http://schemas.openxmlformats.org/officeDocument/2006/relationships/slide" Target="slides/slide6.xml"/><Relationship Id="rId86" Type="http://schemas.openxmlformats.org/officeDocument/2006/relationships/slide" Target="slides/slide7.xml"/><Relationship Id="rId87" Type="http://schemas.openxmlformats.org/officeDocument/2006/relationships/slide" Target="slides/slide8.xml"/><Relationship Id="rId88" Type="http://schemas.openxmlformats.org/officeDocument/2006/relationships/slide" Target="slides/slide9.xml"/><Relationship Id="rId89" Type="http://schemas.openxmlformats.org/officeDocument/2006/relationships/slide" Target="slides/slide10.xml"/><Relationship Id="rId90" Type="http://schemas.openxmlformats.org/officeDocument/2006/relationships/slide" Target="slides/slide11.xml"/><Relationship Id="rId91" Type="http://schemas.openxmlformats.org/officeDocument/2006/relationships/slide" Target="slides/slide12.xml"/><Relationship Id="rId92" Type="http://schemas.openxmlformats.org/officeDocument/2006/relationships/slide" Target="slides/slide13.xml"/><Relationship Id="rId93" Type="http://schemas.openxmlformats.org/officeDocument/2006/relationships/slide" Target="slides/slide14.xml"/><Relationship Id="rId9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dt" idx="78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ftr" idx="79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4" name="PlaceHolder 6"/>
          <p:cNvSpPr>
            <a:spLocks noGrp="1"/>
          </p:cNvSpPr>
          <p:nvPr>
            <p:ph type="sldNum" idx="80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1C91CA-3415-4CBC-8354-F1BFC51044B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CE1996-FAE6-43A2-9FC7-F28E245580E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A3E82D-BBEC-4734-A9BF-C63508EF9DC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161C35-377F-4408-B4D6-5A55C283F9F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6DD4E2-129B-4075-99CE-760581A0F953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2DA637-8FCD-4B68-B95B-CDC06E38D9A5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ACDD09-FBE9-4E23-A240-81AEF68566B2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A8568D-2076-4B17-AD31-3094734BBBD5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8344E1-9741-42D6-8D2D-D8976D675D0A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3F2810-A05A-4BDD-A720-31346282194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B9921E-D388-4F6A-BAB3-C13771480D52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B00773-0DC0-4414-931F-CA9821109BB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BF055A-C221-49FA-AB05-8C76E49E37B0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95BCC6-DD9B-4D65-9C93-333FFF1EED4B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720" cy="307116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1280" cy="35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56680" cy="4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DB11A6-7984-4B96-8ED6-1B4A5DBC911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80E32C8-91EA-4C76-8ADD-4C39586568C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84C0CD-7C91-46E3-826D-5A63A103848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30E405-6963-4BD9-B0A8-3544BE10E3C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8D8E9AE-22F3-4530-B712-1DD5178AE330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6B6109-D090-4EB5-893E-B65D916343F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2F31C2-C4D0-4BD7-8709-C5538390464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57C4357-3C01-411A-8B82-A9EB88AAB90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829B4A1-5019-447B-AB80-7CBF932D96F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377587F-2BFA-4D0D-B9B4-7DC74DBE104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747E625-03B4-4DDF-B010-01CA0658B14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8B26143-72A0-40F9-A249-A10A4A078A2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F1F1A7A-C539-4892-8673-8B27E367B530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2D34499-7358-43E4-BB7F-2572A3819E6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2A8DB94-CB51-4959-A952-80E5FDC65FF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5815877-E92C-4AD1-BDA3-A2BD221C88A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7FDA61A-D0A8-4622-9E99-C4FAA66CAF4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184BF2C-4202-4D56-9D95-8F378704444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8E46D55-51B4-4328-B440-7CE93C29AF81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9C302240-9B42-493D-B9BE-9C17E81B28C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E7F40B5-E320-481B-A83F-8A71537860E5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00B1481-59A7-4D59-9865-6A831DA6569E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35647503-09C4-46F0-B668-050C1BC6861B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336C985-593E-491D-BE7B-45328201DF5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5EFD9D1-B125-46D1-B8F3-FB3E5D66295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AD5F54A-84A9-4DE9-8A3F-8DDD6670E0A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CB29F5D-A7AE-40E0-88AD-55BD0BE4A82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838E6B9-4FA5-44A8-801E-BB2CDB05854B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BE5E5E3F-0832-411D-A0FE-6D11766DDC79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B09C0FB-DA88-4DAE-B746-4E60C80EBFEE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FD3527B-72DD-4782-9772-4F34CF10DBD4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E2C92017-1198-47AB-953C-8261045D2536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B043FE1-1B15-4B9C-A989-A7FA85BE587D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5634AD1-80B8-45A2-8DF0-B2A97D5923A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63A2413B-1D1F-45A0-A543-D52B6009A722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395C77E-15C1-4FAA-BC65-592684794118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40611AF-B796-4F94-904F-10C09BB4F91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2BEFAA1E-0B56-48EE-94AF-2D24E3AE2CA0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5A7C8B4-9DBE-4016-9839-5BE858FACD8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B34D9523-7352-4AE7-A792-77CCDAF0BDCA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2422EAA2-8F8D-47DE-A87B-23840FDA0DE7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2BE0384-1CEA-4638-A1C4-E5F8FEBB2D5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533C739C-50F5-44EB-B322-77D71B5F0F77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2CF3958F-974F-49A7-8E94-64D5C457494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822F9DB5-A244-48DF-9420-6C71FDC50BD1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B5532D73-B9B0-474C-A2E5-EB72B4A5414C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471EDA68-9274-4465-946A-8E25491BF99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1D9EA661-1936-421F-84CA-85D09628476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19D18242-3F32-4C15-8872-39C33AADE48C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1AA53772-5C79-4AA6-9A1F-B36D9D5E1F03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4C5D35A-0288-4A4E-B1DB-1F4E504FA094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67A1A596-3FA6-4752-A975-70A9C60A2B26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6AA382FF-9451-48B6-9B76-30FACD69ED75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B339303F-3301-43F7-A8C2-5EA670B7B151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AEC68CBC-F5F3-42C4-828F-21E6F8017C24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5"/>
          </p:nvPr>
        </p:nvSpPr>
        <p:spPr/>
        <p:txBody>
          <a:bodyPr/>
          <a:p>
            <a:fld id="{091AE160-0DEF-47CF-9269-5C5196E86596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824C9160-306F-42D2-827B-22A85CE439C5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FA53F62C-96C2-4981-873C-8C6302FF293E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6D0C19DA-2F78-4DCD-976F-278C8BFF782A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CE39F7DB-4641-4067-9099-48F7D4977D2F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5A2AEECD-E173-4FE0-A42E-209EE2DC73AB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39016288-ADC5-444D-A2C8-C2BDFA025608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075F1139-0FD0-469D-8E5C-D2010DF9410B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3644587F-D982-4EA3-818F-A7D352714907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EA0B3E2E-76DC-41CA-8488-252A5A343620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7D3B60B2-4213-49FC-A93F-B8F44457991C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C71E002D-4C3D-4542-9E73-72BB55F0A886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A84AA870-323C-487B-A723-5C0A84E6A7DE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DB7843C9-B335-4B80-8FA4-3C071DA4F4F0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63E15522-935E-4478-9730-18A3CD796313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BFA29339-E72B-4CD3-AB0B-3BC62CBD67FE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7"/>
          </p:nvPr>
        </p:nvSpPr>
        <p:spPr/>
        <p:txBody>
          <a:bodyPr/>
          <a:p>
            <a:fld id="{1E25F548-0817-4DE1-8546-614FDDC68247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16E817C-5B48-48AA-B908-911C242B9CCE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4E1F1B84-ECD5-4280-B0C4-A5C52833BB43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DAED4431-5FA3-4E4A-B7DD-7838D835C378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1527D3C5-D612-452A-BC2F-90AC3F6B572A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13467AD7-DE7B-420D-9749-16910A7107FD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3"/>
          </p:nvPr>
        </p:nvSpPr>
        <p:spPr/>
        <p:txBody>
          <a:bodyPr/>
          <a:p>
            <a:fld id="{001D9901-1A86-4F68-8162-FCDE45B926D8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EA10C353-A093-44D0-A5DA-1704C9CAD01B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5F632963-AE17-4203-B990-89DD11547F9E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D0984958-A59E-4C50-8EE7-5727D93C58CF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A5852C65-FD31-46E4-BDD7-6F6F8508D19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6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7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8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9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70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71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72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3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4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5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6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7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8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9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80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8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BC2F7D-CE5D-4B7F-A0F0-16BE048D690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9A1BB8-6181-4547-A301-BF185DCF041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837F7C-B813-40C1-9753-0F2ADF0FB88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49CE2F-F8CA-4273-A28C-D1B3608FFFD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80910B-A70B-494E-8B6D-1667FA65078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51BA9D-3923-4DF3-B27A-54E1DAFBD72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34F084-CA66-489D-AEFD-65F9031C7E7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E801BB-7105-46B4-9F7A-BA0FF846518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73B859-5487-4035-841B-9DFB816E56E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A2D204-49C7-48C2-BA53-57819C3E827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A24A89-3A6E-4C99-A047-61D1FA58896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E30F49-6B3C-4D00-8836-F6D5D414555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F9ED79-A268-4401-B261-7A568B640C3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83C12C-5A48-49F5-8072-114BC70E399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959A33-3F08-495A-A565-673E71CC53D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D8AD4D-CA84-4CFB-BF79-F14DF2C6A3A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7FDD94-EA08-4A00-A089-620C53BB547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5B0C7B-23AB-41CF-BCBF-1560C0BBE89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1D4368-6E7D-4C1A-8FAB-8DA7E0BEA9B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719388-CB85-415E-A108-5B78DBBB654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B574E4-65B4-471A-960C-44D3FFFF5B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4BD3EE-F815-4C3D-AD48-64B18F67034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584D07-A9F4-4CEE-9279-C60050CF43D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617EF3-2B0D-4D62-88BE-1450C3CBCFD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F03AF6-6084-4A90-81B9-5898D831A06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EF09B1-3DEF-4880-BBD2-9AB03F21DFE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CD0796-5BDF-46C8-8A21-29F86F00F3A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43F11D-4D8B-4646-AB0C-0CC126E02C6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2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F9C567-AFF2-48BC-8F2E-8A64358C3F9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FAE77B-D69A-470F-A5C8-417035A502E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1D8AB6-7919-4014-ABD9-3E64314AF84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3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56D48C-2D41-451E-9762-A0273F49897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FED17A-3D47-4557-A62D-339E863768D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DC3A6E-376A-42AF-A23D-FAF97C1C4C8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3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A47F4D-06A3-4E04-8B8B-F69A5859805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61D59E-E612-4656-B2C6-38377615909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B1CDB9-CEA7-4026-9DCA-426E7A2A864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sldNum" idx="3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6D16D7-4C4A-42C5-BC9F-84ABEDC8C53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3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BFCED6-6D79-4B28-958A-E501CDF0B3F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4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83DBC3-BC5B-4B5B-B031-1C2C965CEDF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79D60D-9E2E-441D-84FB-ABC6DE0371F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sldNum" idx="4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074475-60BC-40FE-8D10-D76478584AF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4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491DA2-8F08-4A06-BE81-328FB5B5F1A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4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6F35ED-F87D-4820-B1DF-7A65358A68F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0A19B5-269A-4EB6-9D04-EDDC3CCAF8F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4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2607AA-B885-49AA-9240-081F34BB365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4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5765DB-EB53-438F-A1DE-9C0735832E6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4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B480C4-BADD-4719-9904-401031E54CA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5245D1-8010-43B0-9CD1-DCE46519A33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sldNum" idx="5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03E609-6461-4C11-BFDA-018BF425C45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5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9F98A9-3B53-4099-BBF0-D604A0B7107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5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7B22D3-C135-4AD3-BE5D-73A8C29E91D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sldNum" idx="5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27762E-F7A4-4D76-841F-9F7D347666D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5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58F2CC-F88C-4249-B028-C313566411C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5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145AF0-2A66-41E7-933F-E000DB46607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5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A7447E-5716-4620-9A4B-4E9F8010FCA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sldNum" idx="5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EF660D-3828-400B-9644-0D30E54534D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5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F235B1-D82B-44FD-990D-3B11F1233A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sldNum" idx="5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7AAE21-9658-44E1-8EEF-FFC7461DC55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6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B6AE54-A384-416F-BE83-EB84D1E6C05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Num" idx="6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E45583-D0FB-4EDF-A8C1-56E20A83A81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  <p:sldLayoutId id="2147483770" r:id="rId3"/>
    <p:sldLayoutId id="2147483771" r:id="rId4"/>
    <p:sldLayoutId id="2147483772" r:id="rId5"/>
    <p:sldLayoutId id="2147483773" r:id="rId6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6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1DAFC8-83E8-48F0-BD09-56FB8E98490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sldNum" idx="6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225D30-5CD6-442C-A504-EFD6347346F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ldNum" idx="6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D51FD6-F624-4320-87D7-2381FA715AF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ldNum" idx="6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A7B7D3-6564-45BE-8320-6C8797D4E36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6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C03D7C-2417-466B-87AF-648DD32C56C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sldNum" idx="6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B1F83B-E3CE-44E6-9102-09D73A39282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sldNum" idx="68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9A5BCF-A897-4D77-A505-392E0D11EB4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sldNum" idx="69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B598A6-5A0E-490F-AAB9-A7C00B9C3F7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Num" idx="70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FBFBE5-2C0E-44D9-BB4F-D0D0645F97D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7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092809-C8A8-4637-B8AE-35BB57CB019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sldNum" idx="72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D4298D-B94C-4AB4-9494-36B2304CE16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sldNum" idx="73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749141-52EE-4C40-BBBE-224ECDE598F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Num" idx="74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11C975-8639-4CB4-A92D-3156BD1D7A7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Num" idx="75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689729-1114-46E5-8CF1-F597B7BFF24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6;p9"/>
          <p:cNvSpPr/>
          <p:nvPr/>
        </p:nvSpPr>
        <p:spPr>
          <a:xfrm>
            <a:off x="4572000" y="0"/>
            <a:ext cx="4563360" cy="5139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sldNum" idx="76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3BDF74-B098-4D41-A776-D6325B73D6C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Num" idx="77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4922D9-315C-47AE-943E-7A3C5773492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5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5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65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65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65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834480" y="527760"/>
            <a:ext cx="7466040" cy="17578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GQE-inspired QLBM</a:t>
            </a:r>
            <a:br>
              <a:rPr sz="2600"/>
            </a:b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56" name="Google Shape;56;p13"/>
          <p:cNvCxnSpPr/>
          <p:nvPr/>
        </p:nvCxnSpPr>
        <p:spPr>
          <a:xfrm>
            <a:off x="204480" y="230472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cxnSp>
        <p:nvCxnSpPr>
          <p:cNvPr id="357" name="Google Shape;57;p13"/>
          <p:cNvCxnSpPr/>
          <p:nvPr/>
        </p:nvCxnSpPr>
        <p:spPr>
          <a:xfrm>
            <a:off x="204480" y="39488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58" name="PlaceHolder 2"/>
          <p:cNvSpPr>
            <a:spLocks noGrp="1"/>
          </p:cNvSpPr>
          <p:nvPr>
            <p:ph type="sldNum" idx="81"/>
          </p:nvPr>
        </p:nvSpPr>
        <p:spPr>
          <a:xfrm>
            <a:off x="8472600" y="466668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31D440-7418-4485-8458-EFB151B3B04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9" name="Google Shape;59;p13"/>
          <p:cNvSpPr/>
          <p:nvPr/>
        </p:nvSpPr>
        <p:spPr>
          <a:xfrm>
            <a:off x="1946880" y="3182040"/>
            <a:ext cx="524196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Will Buziak, Iris Bahar &amp; Pooja Rao</a:t>
            </a:r>
            <a:br>
              <a:rPr sz="1900"/>
            </a:b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640" cy="4415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61" name="Google Shape;207;p28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62" name="PlaceHolder 2"/>
          <p:cNvSpPr>
            <a:spLocks noGrp="1"/>
          </p:cNvSpPr>
          <p:nvPr>
            <p:ph type="sldNum" idx="82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F3086E-4ED3-48C1-89EC-63D4EB0E62B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What do Engineers want from Quantum Computers?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640" cy="4415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Physicists have a compute problem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Highly complex multi-physics simulations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Moore’s law is dead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65" name="Google Shape;207;p 2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66" name="PlaceHolder 2"/>
          <p:cNvSpPr>
            <a:spLocks noGrp="1"/>
          </p:cNvSpPr>
          <p:nvPr>
            <p:ph type="sldNum" idx="83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1A3C9C-7451-4335-9EC0-862C615DC6A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3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What do Engineers want from Quantum Computers?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8" name="" descr=""/>
          <p:cNvPicPr/>
          <p:nvPr/>
        </p:nvPicPr>
        <p:blipFill>
          <a:blip r:embed="rId1"/>
          <a:stretch/>
        </p:blipFill>
        <p:spPr>
          <a:xfrm>
            <a:off x="3666960" y="2689560"/>
            <a:ext cx="4331880" cy="2149200"/>
          </a:xfrm>
          <a:prstGeom prst="rect">
            <a:avLst/>
          </a:prstGeom>
          <a:ln w="0">
            <a:noFill/>
          </a:ln>
        </p:spPr>
      </p:pic>
      <p:sp>
        <p:nvSpPr>
          <p:cNvPr id="369" name=""/>
          <p:cNvSpPr/>
          <p:nvPr/>
        </p:nvSpPr>
        <p:spPr>
          <a:xfrm>
            <a:off x="7617600" y="4822200"/>
            <a:ext cx="45504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[3]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640" cy="4415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Natural candidates for optimization offered by Quantum Algorithms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Partial Differential Equation solvers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Molecule interactions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- Material Properties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</a:t>
            </a: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- Fluid dynamics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High-Energy physics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71" name="Google Shape;207;p 3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72" name="PlaceHolder 2"/>
          <p:cNvSpPr>
            <a:spLocks noGrp="1"/>
          </p:cNvSpPr>
          <p:nvPr>
            <p:ph type="sldNum" idx="84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29B247-C4E9-498A-B5ED-A2AEF5562C0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4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What kind of problems map to Quantum Computers?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640" cy="4415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Navier-Stokes Equations are PDEs that describe the molecular physics of fluid simulations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Adapted to a huge variety of application problems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Can be coupled with other expressions to model more complex multi-physics behavior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75" name="Google Shape;207;p 11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76" name="PlaceHolder 2"/>
          <p:cNvSpPr>
            <a:spLocks noGrp="1"/>
          </p:cNvSpPr>
          <p:nvPr>
            <p:ph type="sldNum" idx="85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9C7794-1B72-40A6-BE88-FFA1C221321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5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Classical Fluid Simulation is Complex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1"/>
          <a:stretch/>
        </p:blipFill>
        <p:spPr>
          <a:xfrm>
            <a:off x="4800600" y="2990880"/>
            <a:ext cx="2797200" cy="2103840"/>
          </a:xfrm>
          <a:prstGeom prst="rect">
            <a:avLst/>
          </a:prstGeom>
          <a:ln w="0">
            <a:noFill/>
          </a:ln>
        </p:spPr>
      </p:pic>
      <p:sp>
        <p:nvSpPr>
          <p:cNvPr id="379" name=""/>
          <p:cNvSpPr/>
          <p:nvPr/>
        </p:nvSpPr>
        <p:spPr>
          <a:xfrm>
            <a:off x="7617600" y="4822200"/>
            <a:ext cx="45504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[4]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640" cy="2363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Instead of modeling the position for each molecule at each moment in time, we can: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Discretize our domain into “mesoscopic” nodes that model the approximate microscopic molecular interactions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nodes then “collide” and “stream” information to each other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1" name="Google Shape;207;p 5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82" name="PlaceHolder 2"/>
          <p:cNvSpPr>
            <a:spLocks noGrp="1"/>
          </p:cNvSpPr>
          <p:nvPr>
            <p:ph type="sldNum" idx="86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44E55C-03C2-40E2-B704-0FAEC95C124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6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Lattice-Boltzmann Method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1"/>
          <a:stretch/>
        </p:blipFill>
        <p:spPr>
          <a:xfrm>
            <a:off x="5766480" y="3272400"/>
            <a:ext cx="1532880" cy="1793520"/>
          </a:xfrm>
          <a:prstGeom prst="rect">
            <a:avLst/>
          </a:prstGeom>
          <a:ln w="0">
            <a:noFill/>
          </a:ln>
        </p:spPr>
      </p:pic>
      <p:pic>
        <p:nvPicPr>
          <p:cNvPr id="385" name="" descr=""/>
          <p:cNvPicPr/>
          <p:nvPr/>
        </p:nvPicPr>
        <p:blipFill>
          <a:blip r:embed="rId2"/>
          <a:srcRect l="0" t="18239" r="7" b="0"/>
          <a:stretch/>
        </p:blipFill>
        <p:spPr>
          <a:xfrm>
            <a:off x="1636200" y="3043800"/>
            <a:ext cx="3655080" cy="2045520"/>
          </a:xfrm>
          <a:prstGeom prst="rect">
            <a:avLst/>
          </a:prstGeom>
          <a:ln w="0">
            <a:noFill/>
          </a:ln>
        </p:spPr>
      </p:pic>
      <p:sp>
        <p:nvSpPr>
          <p:cNvPr id="386" name=""/>
          <p:cNvSpPr/>
          <p:nvPr/>
        </p:nvSpPr>
        <p:spPr>
          <a:xfrm>
            <a:off x="7315200" y="4752000"/>
            <a:ext cx="456120" cy="45612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[5]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/>
          </p:nvPr>
        </p:nvSpPr>
        <p:spPr>
          <a:xfrm>
            <a:off x="343080" y="606960"/>
            <a:ext cx="8306640" cy="4420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Fluid properties can be encoded in the amplitudes of the quantum states and initial conditions transform into a quantum state vector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QLBM algorithm can then be broken down into four steps that evolve the system: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Encoding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Collide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Stream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Calculate macroscopic variables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8" name="Google Shape;207;p 6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89" name="PlaceHolder 2"/>
          <p:cNvSpPr>
            <a:spLocks noGrp="1"/>
          </p:cNvSpPr>
          <p:nvPr>
            <p:ph type="sldNum" idx="87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DCE4B1-3AE7-40CE-8424-A2BB2AA519B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7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title"/>
          </p:nvPr>
        </p:nvSpPr>
        <p:spPr>
          <a:xfrm>
            <a:off x="1086480" y="171360"/>
            <a:ext cx="6968880" cy="55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Quantum Lattice-Boltzmann Method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91" name="" descr=""/>
          <p:cNvPicPr/>
          <p:nvPr/>
        </p:nvPicPr>
        <p:blipFill>
          <a:blip r:embed="rId1"/>
          <a:stretch/>
        </p:blipFill>
        <p:spPr>
          <a:xfrm>
            <a:off x="4726800" y="3012120"/>
            <a:ext cx="4052520" cy="168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QLBM Issues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127080" y="678960"/>
            <a:ext cx="8799120" cy="4118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Issues with the hardware: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To effectively simulate these systems, we need 100s or 1000s of lattice sites (qubits)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Must be reasonably error-free / fault-tolerant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Requires lots of shots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 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</a:t>
            </a: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Therefore, QLBM becomes difficult to deploy on real quantum hardware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94" name="Google Shape;207;p 10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95" name="PlaceHolder 3"/>
          <p:cNvSpPr>
            <a:spLocks noGrp="1"/>
          </p:cNvSpPr>
          <p:nvPr>
            <p:ph type="sldNum" idx="88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6A3A2C-8D47-4D0E-BA1C-8E979A15859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VQA &amp; GQE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127080" y="678960"/>
            <a:ext cx="8799120" cy="4118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Variational Quantum Algorithms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(VQAs)</a:t>
            </a: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utilize classical processing to optimize an encoded problem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Several issues with scaling to large problem sizes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Quantum Informed Machine Learning (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QIML</a:t>
            </a:r>
            <a:r>
              <a:rPr b="0" lang="en-US" sz="2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techniques take a similar approach, but utilize classical ML with cost functions that tailor the optimization: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Generative Quantum Eigensolvers</a:t>
            </a:r>
            <a:r>
              <a:rPr b="0" lang="en-US" sz="18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[6]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(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GQEs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utilize Generative Pre-trained Transformers (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GPTs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) to determine the entire circuit structure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98" name="Google Shape;207;p 4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99" name="PlaceHolder 3"/>
          <p:cNvSpPr>
            <a:spLocks noGrp="1"/>
          </p:cNvSpPr>
          <p:nvPr>
            <p:ph type="sldNum" idx="89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08CB05-2CEA-4FDC-A154-1DD01ECB36B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9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 circuit generation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127080" y="678960"/>
            <a:ext cx="8799120" cy="13773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 utilizes a transformer similarly to LLMs by employing a “dictionary” of “words” (A set of quantum gates)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circuit is then processed on the QPU and evaluated with a cost function that is then fed back into the transformer model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02" name="Google Shape;207;p 9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03" name="PlaceHolder 3"/>
          <p:cNvSpPr>
            <a:spLocks noGrp="1"/>
          </p:cNvSpPr>
          <p:nvPr>
            <p:ph type="sldNum" idx="90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F796A9-6A05-46A1-8B4E-88CAC047F1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10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404" name="" descr=""/>
          <p:cNvPicPr/>
          <p:nvPr/>
        </p:nvPicPr>
        <p:blipFill>
          <a:blip r:embed="rId1"/>
          <a:stretch/>
        </p:blipFill>
        <p:spPr>
          <a:xfrm>
            <a:off x="1828800" y="2837880"/>
            <a:ext cx="5485320" cy="1961640"/>
          </a:xfrm>
          <a:prstGeom prst="rect">
            <a:avLst/>
          </a:prstGeom>
          <a:ln w="54720">
            <a:noFill/>
          </a:ln>
        </p:spPr>
      </p:pic>
      <p:sp>
        <p:nvSpPr>
          <p:cNvPr id="405" name=""/>
          <p:cNvSpPr/>
          <p:nvPr/>
        </p:nvSpPr>
        <p:spPr>
          <a:xfrm>
            <a:off x="7543800" y="4572000"/>
            <a:ext cx="456120" cy="45612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[6]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Distributed Quantum Computing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343080" y="678960"/>
            <a:ext cx="8569440" cy="18345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Distributed Quantum architecture combines different qubit technologies into a heterogeneous QPU structure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Quantum compilation</a:t>
            </a:r>
            <a:r>
              <a:rPr b="0" lang="en-US" sz="2000" strike="noStrike" u="none" baseline="33000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[7]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becomes more complex as you begin to leverage inter-QPU communication costs with error rates on hardware with different qubit counts and tradeoffs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08" name="Google Shape;207;p 14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09" name="PlaceHolder 3"/>
          <p:cNvSpPr>
            <a:spLocks noGrp="1"/>
          </p:cNvSpPr>
          <p:nvPr>
            <p:ph type="sldNum" idx="91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317E93-FF37-4AEB-A866-F071413102B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257560" y="384984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2351520" y="392832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 flipV="1">
            <a:off x="2453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 flipV="1">
            <a:off x="2570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 flipV="1">
            <a:off x="2687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 flipV="1">
            <a:off x="2804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 flipV="1">
            <a:off x="2921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 flipV="1">
            <a:off x="3038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 flipV="1">
            <a:off x="3155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 flipV="1">
            <a:off x="2453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 flipV="1">
            <a:off x="2570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 flipV="1">
            <a:off x="2687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 flipV="1">
            <a:off x="2804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 flipV="1">
            <a:off x="2921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 flipV="1">
            <a:off x="3038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 flipV="1">
            <a:off x="3155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 flipV="1">
            <a:off x="2147400" y="39823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 flipV="1">
            <a:off x="2148120" y="41007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 flipV="1">
            <a:off x="2148840" y="42195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 flipV="1">
            <a:off x="2149560" y="433800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 flipV="1">
            <a:off x="214992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 flipV="1">
            <a:off x="215064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 flipV="1">
            <a:off x="2151720" y="4693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 flipV="1">
            <a:off x="3317040" y="39823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 flipV="1">
            <a:off x="3317760" y="41007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 flipV="1">
            <a:off x="3318120" y="42195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 flipV="1">
            <a:off x="3318840" y="43380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 flipV="1">
            <a:off x="331956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 flipV="1">
            <a:off x="332028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 flipV="1">
            <a:off x="3321000" y="4693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1"/>
          <a:stretch/>
        </p:blipFill>
        <p:spPr>
          <a:xfrm>
            <a:off x="2473920" y="401328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441" name=""/>
          <p:cNvSpPr/>
          <p:nvPr/>
        </p:nvSpPr>
        <p:spPr>
          <a:xfrm>
            <a:off x="3841920" y="2734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935880" y="2812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 flipV="1">
            <a:off x="4037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 flipV="1">
            <a:off x="4154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 flipV="1">
            <a:off x="4271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 flipV="1">
            <a:off x="4388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 flipV="1">
            <a:off x="4505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 flipV="1">
            <a:off x="4622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 flipV="1">
            <a:off x="4739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 flipV="1">
            <a:off x="4037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 flipV="1">
            <a:off x="4154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 flipV="1">
            <a:off x="4271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 flipV="1">
            <a:off x="4388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 flipV="1">
            <a:off x="4505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 flipV="1">
            <a:off x="4622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 flipV="1">
            <a:off x="4739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 flipV="1">
            <a:off x="3731760" y="2866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 flipV="1">
            <a:off x="3732480" y="2985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 flipV="1">
            <a:off x="3733200" y="3103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 flipV="1">
            <a:off x="3733920" y="3222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 flipV="1">
            <a:off x="373428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 flipV="1">
            <a:off x="373500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 flipV="1">
            <a:off x="3736080" y="3578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 flipV="1">
            <a:off x="4901400" y="2866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flipV="1">
            <a:off x="4902120" y="2985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 flipV="1">
            <a:off x="4902480" y="3103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 flipV="1">
            <a:off x="4903200" y="3222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flipV="1">
            <a:off x="490392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 flipV="1">
            <a:off x="490464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 flipV="1">
            <a:off x="4905360" y="3578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71" name="" descr=""/>
          <p:cNvPicPr/>
          <p:nvPr/>
        </p:nvPicPr>
        <p:blipFill>
          <a:blip r:embed="rId2"/>
          <a:stretch/>
        </p:blipFill>
        <p:spPr>
          <a:xfrm>
            <a:off x="4058280" y="2897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472" name=""/>
          <p:cNvSpPr/>
          <p:nvPr/>
        </p:nvSpPr>
        <p:spPr>
          <a:xfrm flipV="1">
            <a:off x="3425040" y="4338360"/>
            <a:ext cx="1940760" cy="3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5461920" y="3850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5555880" y="3928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03" name="" descr=""/>
          <p:cNvPicPr/>
          <p:nvPr/>
        </p:nvPicPr>
        <p:blipFill>
          <a:blip r:embed="rId3"/>
          <a:stretch/>
        </p:blipFill>
        <p:spPr>
          <a:xfrm>
            <a:off x="5678280" y="4013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504" name=""/>
          <p:cNvSpPr/>
          <p:nvPr/>
        </p:nvSpPr>
        <p:spPr>
          <a:xfrm>
            <a:off x="5461920" y="3850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5555880" y="3928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34" name="" descr=""/>
          <p:cNvPicPr/>
          <p:nvPr/>
        </p:nvPicPr>
        <p:blipFill>
          <a:blip r:embed="rId4"/>
          <a:stretch/>
        </p:blipFill>
        <p:spPr>
          <a:xfrm>
            <a:off x="5678280" y="4013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535" name=""/>
          <p:cNvSpPr/>
          <p:nvPr/>
        </p:nvSpPr>
        <p:spPr>
          <a:xfrm flipV="1">
            <a:off x="2804040" y="3223080"/>
            <a:ext cx="929880" cy="51948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5009400" y="3223080"/>
            <a:ext cx="999000" cy="5198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An optimized Distributed Quantum System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343080" y="678960"/>
            <a:ext cx="8569440" cy="18345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There is lots of interest in placing the GPU at the center of the DQC to accelerate any classical processing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structure is an excellent candidate for quantum algorithms that would otherwise be infeasible to scale to real hardware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39" name="Google Shape;207;p 7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540" name="PlaceHolder 3"/>
          <p:cNvSpPr>
            <a:spLocks noGrp="1"/>
          </p:cNvSpPr>
          <p:nvPr>
            <p:ph type="sldNum" idx="92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F93CF4-A8F6-44C4-8A7F-72AF8EDD52E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12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257560" y="384984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2351520" y="392832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 flipV="1">
            <a:off x="2453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 flipV="1">
            <a:off x="2570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 flipV="1">
            <a:off x="2687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 flipV="1">
            <a:off x="2804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 flipV="1">
            <a:off x="2921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 flipV="1">
            <a:off x="3038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 flipV="1">
            <a:off x="3155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 flipV="1">
            <a:off x="2453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 flipV="1">
            <a:off x="2570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 flipV="1">
            <a:off x="2687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 flipV="1">
            <a:off x="2804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 flipV="1">
            <a:off x="2921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 flipV="1">
            <a:off x="3038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 flipV="1">
            <a:off x="3155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 flipV="1">
            <a:off x="2147400" y="39823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 flipV="1">
            <a:off x="2148120" y="41007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 flipV="1">
            <a:off x="2148840" y="42195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 flipV="1">
            <a:off x="2149560" y="433800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 flipV="1">
            <a:off x="214992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 flipV="1">
            <a:off x="215064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 flipV="1">
            <a:off x="2151720" y="4693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 flipV="1">
            <a:off x="3317040" y="39823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 flipV="1">
            <a:off x="3317760" y="41007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 flipV="1">
            <a:off x="3318120" y="42195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 flipV="1">
            <a:off x="3318840" y="43380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 flipV="1">
            <a:off x="331956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 flipV="1">
            <a:off x="332028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 flipV="1">
            <a:off x="3321000" y="4693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71" name="" descr=""/>
          <p:cNvPicPr/>
          <p:nvPr/>
        </p:nvPicPr>
        <p:blipFill>
          <a:blip r:embed="rId1"/>
          <a:stretch/>
        </p:blipFill>
        <p:spPr>
          <a:xfrm>
            <a:off x="2473920" y="401328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572" name=""/>
          <p:cNvSpPr/>
          <p:nvPr/>
        </p:nvSpPr>
        <p:spPr>
          <a:xfrm>
            <a:off x="3841920" y="2734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3935880" y="2812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 flipV="1">
            <a:off x="4037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 flipV="1">
            <a:off x="4154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 flipV="1">
            <a:off x="4271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4388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 flipV="1">
            <a:off x="4505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 flipV="1">
            <a:off x="4622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 flipV="1">
            <a:off x="4739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 flipV="1">
            <a:off x="4037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 flipV="1">
            <a:off x="4154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 flipV="1">
            <a:off x="4271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 flipV="1">
            <a:off x="4388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 flipV="1">
            <a:off x="4505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 flipV="1">
            <a:off x="4622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 flipV="1">
            <a:off x="4739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 flipV="1">
            <a:off x="3731760" y="2866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 flipV="1">
            <a:off x="3732480" y="2985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 flipV="1">
            <a:off x="3733200" y="3103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 flipV="1">
            <a:off x="3733920" y="3222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 flipV="1">
            <a:off x="373428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 flipV="1">
            <a:off x="373500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 flipV="1">
            <a:off x="3736080" y="3578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 flipV="1">
            <a:off x="4901400" y="2866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 flipV="1">
            <a:off x="4902120" y="2985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 flipV="1">
            <a:off x="4902480" y="3103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 flipV="1">
            <a:off x="4903200" y="3222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 flipV="1">
            <a:off x="490392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 flipV="1">
            <a:off x="490464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 flipV="1">
            <a:off x="4905360" y="3578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02" name="" descr=""/>
          <p:cNvPicPr/>
          <p:nvPr/>
        </p:nvPicPr>
        <p:blipFill>
          <a:blip r:embed="rId2"/>
          <a:stretch/>
        </p:blipFill>
        <p:spPr>
          <a:xfrm>
            <a:off x="4058280" y="2897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603" name=""/>
          <p:cNvSpPr/>
          <p:nvPr/>
        </p:nvSpPr>
        <p:spPr>
          <a:xfrm flipV="1">
            <a:off x="3425040" y="4338360"/>
            <a:ext cx="1940760" cy="3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5461920" y="3850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5555880" y="3928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34" name="" descr=""/>
          <p:cNvPicPr/>
          <p:nvPr/>
        </p:nvPicPr>
        <p:blipFill>
          <a:blip r:embed="rId3"/>
          <a:stretch/>
        </p:blipFill>
        <p:spPr>
          <a:xfrm>
            <a:off x="5678280" y="4013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635" name=""/>
          <p:cNvSpPr/>
          <p:nvPr/>
        </p:nvSpPr>
        <p:spPr>
          <a:xfrm>
            <a:off x="5461920" y="3850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5555880" y="3928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 flipV="1">
            <a:off x="5657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 flipV="1">
            <a:off x="5774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 flipV="1">
            <a:off x="5891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 flipV="1">
            <a:off x="6008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 flipV="1">
            <a:off x="6125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 flipV="1">
            <a:off x="6242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 flipV="1">
            <a:off x="6359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 flipV="1">
            <a:off x="5657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 flipV="1">
            <a:off x="5774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 flipV="1">
            <a:off x="5891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 flipV="1">
            <a:off x="6008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 flipV="1">
            <a:off x="6125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 flipV="1">
            <a:off x="6242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 flipV="1">
            <a:off x="6359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 flipV="1">
            <a:off x="5351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 flipV="1">
            <a:off x="5352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 flipV="1">
            <a:off x="5353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 flipV="1">
            <a:off x="5353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 flipV="1">
            <a:off x="5354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 flipV="1">
            <a:off x="5355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 flipV="1">
            <a:off x="5356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 flipV="1">
            <a:off x="6521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 flipV="1">
            <a:off x="6522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 flipV="1">
            <a:off x="6522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 flipV="1">
            <a:off x="6523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 flipV="1">
            <a:off x="6523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 flipV="1">
            <a:off x="6524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 flipV="1">
            <a:off x="6525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65" name="" descr=""/>
          <p:cNvPicPr/>
          <p:nvPr/>
        </p:nvPicPr>
        <p:blipFill>
          <a:blip r:embed="rId4"/>
          <a:stretch/>
        </p:blipFill>
        <p:spPr>
          <a:xfrm>
            <a:off x="5678280" y="4013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666" name=""/>
          <p:cNvSpPr/>
          <p:nvPr/>
        </p:nvSpPr>
        <p:spPr>
          <a:xfrm flipV="1">
            <a:off x="2804040" y="3223080"/>
            <a:ext cx="929880" cy="51948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5009400" y="3223080"/>
            <a:ext cx="999000" cy="5198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68" name="" descr=""/>
          <p:cNvPicPr/>
          <p:nvPr/>
        </p:nvPicPr>
        <p:blipFill>
          <a:blip r:embed="rId5"/>
          <a:stretch/>
        </p:blipFill>
        <p:spPr>
          <a:xfrm>
            <a:off x="3904200" y="3995640"/>
            <a:ext cx="988560" cy="707040"/>
          </a:xfrm>
          <a:prstGeom prst="rect">
            <a:avLst/>
          </a:prstGeom>
          <a:ln w="54720">
            <a:noFill/>
          </a:ln>
        </p:spPr>
      </p:pic>
      <p:sp>
        <p:nvSpPr>
          <p:cNvPr id="669" name=""/>
          <p:cNvSpPr/>
          <p:nvPr/>
        </p:nvSpPr>
        <p:spPr>
          <a:xfrm>
            <a:off x="4770000" y="4537800"/>
            <a:ext cx="456120" cy="45612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[8]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"/>
          <p:cNvSpPr/>
          <p:nvPr/>
        </p:nvSpPr>
        <p:spPr>
          <a:xfrm>
            <a:off x="228600" y="2743200"/>
            <a:ext cx="2513520" cy="2284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GQE-inspired QLBM deployed on DQC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/>
          </p:nvPr>
        </p:nvSpPr>
        <p:spPr>
          <a:xfrm>
            <a:off x="343080" y="678960"/>
            <a:ext cx="8569440" cy="18345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 hopes to outpace a classical LBM solution, we could pair GQE with a QLBM implementation and seek to deploy onto a heterogeneous DQC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-3240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We can leverage CUDA-Q parallelization to obtain drastic speedup compared to a CPU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73" name="Google Shape;207;p 8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674" name="PlaceHolder 3"/>
          <p:cNvSpPr>
            <a:spLocks noGrp="1"/>
          </p:cNvSpPr>
          <p:nvPr>
            <p:ph type="sldNum" idx="93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A6547D-9A27-494A-8B13-FF8B4BD08AF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4345560" y="384984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4439520" y="392832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 flipV="1">
            <a:off x="4541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 flipV="1">
            <a:off x="4658040" y="480924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 flipV="1">
            <a:off x="4775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 flipV="1">
            <a:off x="489204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 flipV="1">
            <a:off x="5009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 flipV="1">
            <a:off x="5126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 flipV="1">
            <a:off x="524304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 flipV="1">
            <a:off x="4541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 flipV="1">
            <a:off x="4658040" y="37422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 flipV="1">
            <a:off x="4775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 flipV="1">
            <a:off x="489204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 flipV="1">
            <a:off x="5009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 flipV="1">
            <a:off x="5126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 flipV="1">
            <a:off x="524304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 flipV="1">
            <a:off x="4235400" y="39823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 flipV="1">
            <a:off x="4236120" y="41007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 flipV="1">
            <a:off x="4236840" y="42195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 flipV="1">
            <a:off x="4237560" y="433800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 flipV="1">
            <a:off x="423792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 flipV="1">
            <a:off x="423864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 flipV="1">
            <a:off x="4239720" y="4693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 flipV="1">
            <a:off x="5405040" y="39823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 flipV="1">
            <a:off x="5405760" y="41007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 flipV="1">
            <a:off x="5406120" y="42195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 flipV="1">
            <a:off x="5406840" y="43380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 flipV="1">
            <a:off x="5407560" y="44564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 flipV="1">
            <a:off x="5408280" y="45752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 flipV="1">
            <a:off x="5409000" y="4693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05" name="" descr=""/>
          <p:cNvPicPr/>
          <p:nvPr/>
        </p:nvPicPr>
        <p:blipFill>
          <a:blip r:embed="rId1"/>
          <a:stretch/>
        </p:blipFill>
        <p:spPr>
          <a:xfrm>
            <a:off x="4561920" y="401328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706" name=""/>
          <p:cNvSpPr/>
          <p:nvPr/>
        </p:nvSpPr>
        <p:spPr>
          <a:xfrm>
            <a:off x="5929920" y="2734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6023880" y="2812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 flipV="1">
            <a:off x="6125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 flipV="1">
            <a:off x="6242400" y="3693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 flipV="1">
            <a:off x="6359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 flipV="1">
            <a:off x="6476400" y="3693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 flipV="1">
            <a:off x="6593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 flipV="1">
            <a:off x="6710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 flipV="1">
            <a:off x="6827400" y="3694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 flipV="1">
            <a:off x="6125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 flipV="1">
            <a:off x="6242400" y="2626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 flipV="1">
            <a:off x="6359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 flipV="1">
            <a:off x="6476400" y="2626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 flipV="1">
            <a:off x="6593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 flipV="1">
            <a:off x="6710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 flipV="1">
            <a:off x="6827400" y="2627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 flipV="1">
            <a:off x="5819760" y="2866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 flipV="1">
            <a:off x="5820480" y="2985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 flipV="1">
            <a:off x="5821200" y="3103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 flipV="1">
            <a:off x="5821920" y="3222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 flipV="1">
            <a:off x="582228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 flipV="1">
            <a:off x="582300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 flipV="1">
            <a:off x="5824080" y="3578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 flipV="1">
            <a:off x="6989400" y="2866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 flipV="1">
            <a:off x="6990120" y="2985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 flipV="1">
            <a:off x="6990480" y="3103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 flipV="1">
            <a:off x="6991200" y="3222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 flipV="1">
            <a:off x="6991920" y="3340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 flipV="1">
            <a:off x="6992640" y="3459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 flipV="1">
            <a:off x="6993360" y="3578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36" name="" descr=""/>
          <p:cNvPicPr/>
          <p:nvPr/>
        </p:nvPicPr>
        <p:blipFill>
          <a:blip r:embed="rId2"/>
          <a:stretch/>
        </p:blipFill>
        <p:spPr>
          <a:xfrm>
            <a:off x="6146280" y="2897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737" name=""/>
          <p:cNvSpPr/>
          <p:nvPr/>
        </p:nvSpPr>
        <p:spPr>
          <a:xfrm flipV="1">
            <a:off x="5513040" y="4338360"/>
            <a:ext cx="1940760" cy="36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7549920" y="3850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7643880" y="3928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 flipV="1">
            <a:off x="7745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 flipV="1">
            <a:off x="7862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 flipV="1">
            <a:off x="7979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 flipV="1">
            <a:off x="8096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 flipV="1">
            <a:off x="8213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 flipV="1">
            <a:off x="8330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 flipV="1">
            <a:off x="8447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 flipV="1">
            <a:off x="7745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 flipV="1">
            <a:off x="7862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 flipV="1">
            <a:off x="7979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 flipV="1">
            <a:off x="8096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 flipV="1">
            <a:off x="8213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 flipV="1">
            <a:off x="8330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 flipV="1">
            <a:off x="8447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 flipV="1">
            <a:off x="7439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 flipV="1">
            <a:off x="7440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 flipV="1">
            <a:off x="7441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 flipV="1">
            <a:off x="7441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 flipV="1">
            <a:off x="7442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 flipV="1">
            <a:off x="7443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 flipV="1">
            <a:off x="7444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 flipV="1">
            <a:off x="8609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 flipV="1">
            <a:off x="8610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 flipV="1">
            <a:off x="8610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 flipV="1">
            <a:off x="8611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 flipV="1">
            <a:off x="8611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 flipV="1">
            <a:off x="8612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 flipV="1">
            <a:off x="8613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68" name="" descr=""/>
          <p:cNvPicPr/>
          <p:nvPr/>
        </p:nvPicPr>
        <p:blipFill>
          <a:blip r:embed="rId3"/>
          <a:stretch/>
        </p:blipFill>
        <p:spPr>
          <a:xfrm>
            <a:off x="7766280" y="4013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769" name=""/>
          <p:cNvSpPr/>
          <p:nvPr/>
        </p:nvSpPr>
        <p:spPr>
          <a:xfrm>
            <a:off x="7549920" y="3850200"/>
            <a:ext cx="1060200" cy="96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7643880" y="3928680"/>
            <a:ext cx="876240" cy="797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47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 flipV="1">
            <a:off x="7745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 flipV="1">
            <a:off x="7862400" y="480960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 flipV="1">
            <a:off x="7979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 flipV="1">
            <a:off x="8096400" y="48099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 flipV="1">
            <a:off x="8213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 flipV="1">
            <a:off x="8330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 flipV="1">
            <a:off x="8447400" y="48103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 flipV="1">
            <a:off x="7745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 flipV="1">
            <a:off x="7862400" y="374256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 flipV="1">
            <a:off x="7979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 flipV="1">
            <a:off x="8096400" y="374292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 flipV="1">
            <a:off x="8213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 flipV="1">
            <a:off x="8330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 flipV="1">
            <a:off x="8447400" y="3743280"/>
            <a:ext cx="360" cy="1076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 flipV="1">
            <a:off x="7439760" y="398268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 flipV="1">
            <a:off x="7440480" y="41011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 flipV="1">
            <a:off x="7441200" y="42199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 flipV="1">
            <a:off x="7441920" y="433836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 flipV="1">
            <a:off x="744228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 flipV="1">
            <a:off x="744300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 flipV="1">
            <a:off x="7444080" y="469404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 flipV="1">
            <a:off x="8609400" y="398268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 flipV="1">
            <a:off x="8610120" y="4101120"/>
            <a:ext cx="10584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 flipV="1">
            <a:off x="8610480" y="421992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 flipV="1">
            <a:off x="8611200" y="433836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 flipV="1">
            <a:off x="8611920" y="44568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 flipV="1">
            <a:off x="8612640" y="457560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 flipV="1">
            <a:off x="8613360" y="4694040"/>
            <a:ext cx="106200" cy="72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99" name="" descr=""/>
          <p:cNvPicPr/>
          <p:nvPr/>
        </p:nvPicPr>
        <p:blipFill>
          <a:blip r:embed="rId4"/>
          <a:stretch/>
        </p:blipFill>
        <p:spPr>
          <a:xfrm>
            <a:off x="7766280" y="4013640"/>
            <a:ext cx="621360" cy="623880"/>
          </a:xfrm>
          <a:prstGeom prst="rect">
            <a:avLst/>
          </a:prstGeom>
          <a:ln w="54720">
            <a:noFill/>
          </a:ln>
        </p:spPr>
      </p:pic>
      <p:sp>
        <p:nvSpPr>
          <p:cNvPr id="800" name=""/>
          <p:cNvSpPr/>
          <p:nvPr/>
        </p:nvSpPr>
        <p:spPr>
          <a:xfrm flipV="1">
            <a:off x="4892040" y="3223080"/>
            <a:ext cx="929880" cy="51948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7097400" y="3223080"/>
            <a:ext cx="999000" cy="519840"/>
          </a:xfrm>
          <a:prstGeom prst="line">
            <a:avLst/>
          </a:prstGeom>
          <a:ln w="18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02" name="" descr=""/>
          <p:cNvPicPr/>
          <p:nvPr/>
        </p:nvPicPr>
        <p:blipFill>
          <a:blip r:embed="rId5"/>
          <a:stretch/>
        </p:blipFill>
        <p:spPr>
          <a:xfrm>
            <a:off x="5992200" y="3995640"/>
            <a:ext cx="988560" cy="707040"/>
          </a:xfrm>
          <a:prstGeom prst="rect">
            <a:avLst/>
          </a:prstGeom>
          <a:ln w="54720">
            <a:noFill/>
          </a:ln>
        </p:spPr>
      </p:pic>
      <p:pic>
        <p:nvPicPr>
          <p:cNvPr id="803" name="" descr=""/>
          <p:cNvPicPr/>
          <p:nvPr/>
        </p:nvPicPr>
        <p:blipFill>
          <a:blip r:embed="rId6"/>
          <a:stretch/>
        </p:blipFill>
        <p:spPr>
          <a:xfrm>
            <a:off x="571680" y="3200400"/>
            <a:ext cx="1532880" cy="1793520"/>
          </a:xfrm>
          <a:prstGeom prst="rect">
            <a:avLst/>
          </a:prstGeom>
          <a:ln w="0">
            <a:noFill/>
          </a:ln>
        </p:spPr>
      </p:pic>
      <p:sp>
        <p:nvSpPr>
          <p:cNvPr id="804" name=""/>
          <p:cNvSpPr/>
          <p:nvPr/>
        </p:nvSpPr>
        <p:spPr>
          <a:xfrm>
            <a:off x="2286000" y="4537800"/>
            <a:ext cx="456120" cy="45612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[5]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>
            <a:off x="2971800" y="3429000"/>
            <a:ext cx="1371600" cy="360"/>
          </a:xfrm>
          <a:prstGeom prst="line">
            <a:avLst/>
          </a:prstGeom>
          <a:ln w="18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>
            <a:off x="1143000" y="2773800"/>
            <a:ext cx="1599120" cy="555840"/>
          </a:xfrm>
          <a:prstGeom prst="rect">
            <a:avLst/>
          </a:prstGeom>
          <a:noFill/>
          <a:ln w="54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Arial"/>
              </a:rPr>
              <a:t>GPT-inspired circuit optimization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880" cy="915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Sources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8" name="PlaceHolder 2"/>
          <p:cNvSpPr>
            <a:spLocks noGrp="1"/>
          </p:cNvSpPr>
          <p:nvPr>
            <p:ph/>
          </p:nvPr>
        </p:nvSpPr>
        <p:spPr>
          <a:xfrm>
            <a:off x="343080" y="786960"/>
            <a:ext cx="8306640" cy="44157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[1] David Wawrzyniak, Josef Winter, Steffen Schmidt, Thomas Indinger, Christian F. JanSen Uwe Schramm and Nikolaus A. Adams. A quantum algorithm for the lattic-Boltzmann method advection-diffusion equation, In: </a:t>
            </a:r>
            <a:r>
              <a:rPr b="0" i="1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Computer Physics Communications 306 (2025) 109373.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[2] Solving Multiphysics with quantum computers. https://medium.com/qiskit/solving-multiphysics-with-quantum-computers-6307017b2cc5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[3] https://www.comsol.com/support/learning-center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[4] https://www1.grc.nasa.gov/beginners-guide-to-aeronautics/navier-strokes-equation/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[5] https://en.wikipedia.org/wiki/Lattice_Boltzmann_methods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[6] Kouhei Nakaji, Lasse Bjorn Kristensen, Ryota Kemmoku, et. al. The generative quantum eigensolver (GQE) and its application for ground state search, ArXiv 2025.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[7] Ruilin Zhou, Jinglei Cheng, Yuhang Gan, Junyu Liu and Chen Qian. Optimizing Compilation for Distributed Quantum Computing via Clustering and Annealing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[8] https://www.vecteezy.com/vector-art/15663056-gpu-graphic-card-icon-color-outline-vector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09" name="Google Shape;207;p 1"/>
          <p:cNvCxnSpPr/>
          <p:nvPr/>
        </p:nvCxnSpPr>
        <p:spPr>
          <a:xfrm>
            <a:off x="204480" y="721440"/>
            <a:ext cx="8743680" cy="900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810" name="PlaceHolder 3"/>
          <p:cNvSpPr>
            <a:spLocks noGrp="1"/>
          </p:cNvSpPr>
          <p:nvPr>
            <p:ph type="sldNum" idx="94"/>
          </p:nvPr>
        </p:nvSpPr>
        <p:spPr>
          <a:xfrm>
            <a:off x="8472600" y="4637160"/>
            <a:ext cx="54000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97A0D0-27FA-48E7-9D16-42588E4CFBB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Application>LibreOffice/24.8.2.1$MacOSX_AARCH64 LibreOffice_project/0f794b6e29741098670a3b95d60478a65d05ef13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2025-12-01T12:35:15Z</dcterms:modified>
  <cp:revision>61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