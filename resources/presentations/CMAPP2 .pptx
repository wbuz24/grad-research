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_rels/slide1.xml.rels" ContentType="application/vnd.openxmlformats-package.relationships+xml"/>
  <Override PartName="/ppt/slides/slide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</p:sldMasterIdLst>
  <p:sldIdLst>
    <p:sldId id="256" r:id="rId13"/>
  </p:sldIdLst>
  <p:sldSz cx="43891200" cy="3291840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" Target="slides/slide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360" cy="549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ubTitle"/>
          </p:nvPr>
        </p:nvSpPr>
        <p:spPr>
          <a:xfrm>
            <a:off x="2194560" y="7702560"/>
            <a:ext cx="39501720" cy="1909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6D8702B-8AA5-48E0-8B0C-19B02288614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7792224C-7250-4FA6-9598-DC7025314B5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2AF97CD9-EBBB-4F88-80DC-D701D168B44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360" cy="549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2194560" y="7702560"/>
            <a:ext cx="39501720" cy="1909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A39CEFF6-FD0F-4FCD-83DA-86010CE3ECA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426AB3C-AD74-4A3A-94B6-1328F7D68EF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360" cy="549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/>
          </p:nvPr>
        </p:nvSpPr>
        <p:spPr>
          <a:xfrm>
            <a:off x="2194560" y="7702560"/>
            <a:ext cx="19276560" cy="1909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/>
          </p:nvPr>
        </p:nvSpPr>
        <p:spPr>
          <a:xfrm>
            <a:off x="22435200" y="7702560"/>
            <a:ext cx="19276560" cy="1909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5754077-C694-4B35-A7C3-385678FCF664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7DB8B1D-98F3-4071-9F78-81C78D2533F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360" cy="549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BA748196-D7A3-4FF6-85DA-15DAB0A18808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8A5574BC-B3E6-4F70-8202-975CA102D293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D9F98146-2B8F-4B8D-8A59-0C8D04D2C10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36CB0877-3000-4BF7-A57A-40DDECA3724C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New picture" descr=""/>
          <p:cNvPicPr/>
          <p:nvPr/>
        </p:nvPicPr>
        <p:blipFill>
          <a:blip r:embed="rId2"/>
          <a:stretch/>
        </p:blipFill>
        <p:spPr>
          <a:xfrm rot="16200000">
            <a:off x="-11071440" y="1646208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1" name="New picture" descr=""/>
          <p:cNvPicPr/>
          <p:nvPr/>
        </p:nvPicPr>
        <p:blipFill>
          <a:blip r:embed="rId3"/>
          <a:stretch/>
        </p:blipFill>
        <p:spPr>
          <a:xfrm rot="5400000">
            <a:off x="40693680" y="1645920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2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480" cy="1445040"/>
          </a:xfrm>
          <a:prstGeom prst="rect">
            <a:avLst/>
          </a:prstGeom>
          <a:ln w="0">
            <a:noFill/>
          </a:ln>
        </p:spPr>
      </p:pic>
      <p:sp>
        <p:nvSpPr>
          <p:cNvPr id="3" name="New shape"/>
          <p:cNvSpPr/>
          <p:nvPr/>
        </p:nvSpPr>
        <p:spPr>
          <a:xfrm>
            <a:off x="6946920" y="33998040"/>
            <a:ext cx="21942720" cy="126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360" cy="549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ftr" idx="1"/>
          </p:nvPr>
        </p:nvSpPr>
        <p:spPr>
          <a:xfrm>
            <a:off x="14994360" y="29977560"/>
            <a:ext cx="138992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sldNum" idx="2"/>
          </p:nvPr>
        </p:nvSpPr>
        <p:spPr>
          <a:xfrm>
            <a:off x="314535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A6AC71EF-4EED-474C-BCD1-F18AFA32481E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3"/>
          </p:nvPr>
        </p:nvSpPr>
        <p:spPr>
          <a:xfrm>
            <a:off x="21927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body"/>
          </p:nvPr>
        </p:nvSpPr>
        <p:spPr>
          <a:xfrm>
            <a:off x="2194560" y="7702560"/>
            <a:ext cx="39501720" cy="19092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New picture" descr=""/>
          <p:cNvPicPr/>
          <p:nvPr/>
        </p:nvPicPr>
        <p:blipFill>
          <a:blip r:embed="rId2"/>
          <a:stretch/>
        </p:blipFill>
        <p:spPr>
          <a:xfrm rot="16200000">
            <a:off x="-11071440" y="1646208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12" name="New picture" descr=""/>
          <p:cNvPicPr/>
          <p:nvPr/>
        </p:nvPicPr>
        <p:blipFill>
          <a:blip r:embed="rId3"/>
          <a:stretch/>
        </p:blipFill>
        <p:spPr>
          <a:xfrm rot="5400000">
            <a:off x="40693680" y="1645920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13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480" cy="1445040"/>
          </a:xfrm>
          <a:prstGeom prst="rect">
            <a:avLst/>
          </a:prstGeom>
          <a:ln w="0">
            <a:noFill/>
          </a:ln>
        </p:spPr>
      </p:pic>
      <p:sp>
        <p:nvSpPr>
          <p:cNvPr id="14" name="New shape"/>
          <p:cNvSpPr/>
          <p:nvPr/>
        </p:nvSpPr>
        <p:spPr>
          <a:xfrm>
            <a:off x="6946920" y="33998040"/>
            <a:ext cx="21942720" cy="126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" name="PlaceHolder 1"/>
          <p:cNvSpPr>
            <a:spLocks noGrp="1"/>
          </p:cNvSpPr>
          <p:nvPr>
            <p:ph type="ftr" idx="4"/>
          </p:nvPr>
        </p:nvSpPr>
        <p:spPr>
          <a:xfrm>
            <a:off x="14994360" y="29977560"/>
            <a:ext cx="138992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sldNum" idx="5"/>
          </p:nvPr>
        </p:nvSpPr>
        <p:spPr>
          <a:xfrm>
            <a:off x="314535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07B65205-CB6A-4D6C-8C64-BA1FEBCD7C3D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dt" idx="6"/>
          </p:nvPr>
        </p:nvSpPr>
        <p:spPr>
          <a:xfrm>
            <a:off x="21927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New picture" descr=""/>
          <p:cNvPicPr/>
          <p:nvPr/>
        </p:nvPicPr>
        <p:blipFill>
          <a:blip r:embed="rId2"/>
          <a:stretch/>
        </p:blipFill>
        <p:spPr>
          <a:xfrm rot="16200000">
            <a:off x="-11071440" y="1646208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19" name="New picture" descr=""/>
          <p:cNvPicPr/>
          <p:nvPr/>
        </p:nvPicPr>
        <p:blipFill>
          <a:blip r:embed="rId3"/>
          <a:stretch/>
        </p:blipFill>
        <p:spPr>
          <a:xfrm rot="5400000">
            <a:off x="40693680" y="1645920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20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480" cy="1445040"/>
          </a:xfrm>
          <a:prstGeom prst="rect">
            <a:avLst/>
          </a:prstGeom>
          <a:ln w="0">
            <a:noFill/>
          </a:ln>
        </p:spPr>
      </p:pic>
      <p:sp>
        <p:nvSpPr>
          <p:cNvPr id="21" name="New shape"/>
          <p:cNvSpPr/>
          <p:nvPr/>
        </p:nvSpPr>
        <p:spPr>
          <a:xfrm>
            <a:off x="6946920" y="33998040"/>
            <a:ext cx="21942720" cy="126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2" name="PlaceHolder 1"/>
          <p:cNvSpPr>
            <a:spLocks noGrp="1"/>
          </p:cNvSpPr>
          <p:nvPr>
            <p:ph type="ftr" idx="7"/>
          </p:nvPr>
        </p:nvSpPr>
        <p:spPr>
          <a:xfrm>
            <a:off x="14994360" y="29977560"/>
            <a:ext cx="138992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ldNum" idx="8"/>
          </p:nvPr>
        </p:nvSpPr>
        <p:spPr>
          <a:xfrm>
            <a:off x="314535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F0C01375-904B-410B-87B9-E68103B8F79B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9"/>
          </p:nvPr>
        </p:nvSpPr>
        <p:spPr>
          <a:xfrm>
            <a:off x="21927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5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New picture" descr=""/>
          <p:cNvPicPr/>
          <p:nvPr/>
        </p:nvPicPr>
        <p:blipFill>
          <a:blip r:embed="rId2"/>
          <a:stretch/>
        </p:blipFill>
        <p:spPr>
          <a:xfrm rot="16200000">
            <a:off x="-11071440" y="1646208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26" name="New picture" descr=""/>
          <p:cNvPicPr/>
          <p:nvPr/>
        </p:nvPicPr>
        <p:blipFill>
          <a:blip r:embed="rId3"/>
          <a:stretch/>
        </p:blipFill>
        <p:spPr>
          <a:xfrm rot="5400000">
            <a:off x="40693680" y="1645920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27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480" cy="1445040"/>
          </a:xfrm>
          <a:prstGeom prst="rect">
            <a:avLst/>
          </a:prstGeom>
          <a:ln w="0">
            <a:noFill/>
          </a:ln>
        </p:spPr>
      </p:pic>
      <p:sp>
        <p:nvSpPr>
          <p:cNvPr id="28" name="New shape"/>
          <p:cNvSpPr/>
          <p:nvPr/>
        </p:nvSpPr>
        <p:spPr>
          <a:xfrm>
            <a:off x="6946920" y="33998040"/>
            <a:ext cx="21942720" cy="126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360" cy="549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2194560" y="7702560"/>
            <a:ext cx="39501360" cy="1909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 type="ftr" idx="10"/>
          </p:nvPr>
        </p:nvSpPr>
        <p:spPr>
          <a:xfrm>
            <a:off x="14994360" y="29977560"/>
            <a:ext cx="138992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 type="sldNum" idx="11"/>
          </p:nvPr>
        </p:nvSpPr>
        <p:spPr>
          <a:xfrm>
            <a:off x="314535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DB0859D3-2E39-4EE1-AFB0-E9D322C48EC6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 type="dt" idx="12"/>
          </p:nvPr>
        </p:nvSpPr>
        <p:spPr>
          <a:xfrm>
            <a:off x="21927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New picture" descr=""/>
          <p:cNvPicPr/>
          <p:nvPr/>
        </p:nvPicPr>
        <p:blipFill>
          <a:blip r:embed="rId2"/>
          <a:stretch/>
        </p:blipFill>
        <p:spPr>
          <a:xfrm rot="16200000">
            <a:off x="-11071440" y="1646208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37" name="New picture" descr=""/>
          <p:cNvPicPr/>
          <p:nvPr/>
        </p:nvPicPr>
        <p:blipFill>
          <a:blip r:embed="rId3"/>
          <a:stretch/>
        </p:blipFill>
        <p:spPr>
          <a:xfrm rot="5400000">
            <a:off x="40693680" y="1645920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38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480" cy="1445040"/>
          </a:xfrm>
          <a:prstGeom prst="rect">
            <a:avLst/>
          </a:prstGeom>
          <a:ln w="0">
            <a:noFill/>
          </a:ln>
        </p:spPr>
      </p:pic>
      <p:sp>
        <p:nvSpPr>
          <p:cNvPr id="39" name="New shape"/>
          <p:cNvSpPr/>
          <p:nvPr/>
        </p:nvSpPr>
        <p:spPr>
          <a:xfrm>
            <a:off x="6946920" y="33998040"/>
            <a:ext cx="21942720" cy="126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0" name="PlaceHolder 1"/>
          <p:cNvSpPr>
            <a:spLocks noGrp="1"/>
          </p:cNvSpPr>
          <p:nvPr>
            <p:ph type="ftr" idx="13"/>
          </p:nvPr>
        </p:nvSpPr>
        <p:spPr>
          <a:xfrm>
            <a:off x="14994360" y="29977560"/>
            <a:ext cx="138992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14"/>
          </p:nvPr>
        </p:nvSpPr>
        <p:spPr>
          <a:xfrm>
            <a:off x="314535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DDB79448-34FD-4F35-888E-5D356EE08E37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15"/>
          </p:nvPr>
        </p:nvSpPr>
        <p:spPr>
          <a:xfrm>
            <a:off x="21927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5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New picture" descr=""/>
          <p:cNvPicPr/>
          <p:nvPr/>
        </p:nvPicPr>
        <p:blipFill>
          <a:blip r:embed="rId2"/>
          <a:stretch/>
        </p:blipFill>
        <p:spPr>
          <a:xfrm rot="16200000">
            <a:off x="-11071440" y="1646208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44" name="New picture" descr=""/>
          <p:cNvPicPr/>
          <p:nvPr/>
        </p:nvPicPr>
        <p:blipFill>
          <a:blip r:embed="rId3"/>
          <a:stretch/>
        </p:blipFill>
        <p:spPr>
          <a:xfrm rot="5400000">
            <a:off x="40693680" y="1645920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45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480" cy="1445040"/>
          </a:xfrm>
          <a:prstGeom prst="rect">
            <a:avLst/>
          </a:prstGeom>
          <a:ln w="0">
            <a:noFill/>
          </a:ln>
        </p:spPr>
      </p:pic>
      <p:sp>
        <p:nvSpPr>
          <p:cNvPr id="46" name="New shape"/>
          <p:cNvSpPr/>
          <p:nvPr/>
        </p:nvSpPr>
        <p:spPr>
          <a:xfrm>
            <a:off x="6946920" y="33998040"/>
            <a:ext cx="21942720" cy="126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360" cy="549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2194560" y="7702560"/>
            <a:ext cx="19276200" cy="1909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22435200" y="7702560"/>
            <a:ext cx="19276200" cy="190918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ftr" idx="16"/>
          </p:nvPr>
        </p:nvSpPr>
        <p:spPr>
          <a:xfrm>
            <a:off x="14994360" y="29977560"/>
            <a:ext cx="138992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sldNum" idx="17"/>
          </p:nvPr>
        </p:nvSpPr>
        <p:spPr>
          <a:xfrm>
            <a:off x="314535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EB4B9591-867E-4E9F-A17A-13E695FB5F4B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18"/>
          </p:nvPr>
        </p:nvSpPr>
        <p:spPr>
          <a:xfrm>
            <a:off x="21927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5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New picture" descr=""/>
          <p:cNvPicPr/>
          <p:nvPr/>
        </p:nvPicPr>
        <p:blipFill>
          <a:blip r:embed="rId2"/>
          <a:stretch/>
        </p:blipFill>
        <p:spPr>
          <a:xfrm rot="16200000">
            <a:off x="-11071440" y="1646208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57" name="New picture" descr=""/>
          <p:cNvPicPr/>
          <p:nvPr/>
        </p:nvPicPr>
        <p:blipFill>
          <a:blip r:embed="rId3"/>
          <a:stretch/>
        </p:blipFill>
        <p:spPr>
          <a:xfrm rot="5400000">
            <a:off x="40693680" y="1645920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58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480" cy="1445040"/>
          </a:xfrm>
          <a:prstGeom prst="rect">
            <a:avLst/>
          </a:prstGeom>
          <a:ln w="0">
            <a:noFill/>
          </a:ln>
        </p:spPr>
      </p:pic>
      <p:sp>
        <p:nvSpPr>
          <p:cNvPr id="59" name="New shape"/>
          <p:cNvSpPr/>
          <p:nvPr/>
        </p:nvSpPr>
        <p:spPr>
          <a:xfrm>
            <a:off x="6946920" y="33998040"/>
            <a:ext cx="21942720" cy="126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0" name="PlaceHolder 1"/>
          <p:cNvSpPr>
            <a:spLocks noGrp="1"/>
          </p:cNvSpPr>
          <p:nvPr>
            <p:ph type="ftr" idx="19"/>
          </p:nvPr>
        </p:nvSpPr>
        <p:spPr>
          <a:xfrm>
            <a:off x="14994360" y="29977560"/>
            <a:ext cx="138992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20"/>
          </p:nvPr>
        </p:nvSpPr>
        <p:spPr>
          <a:xfrm>
            <a:off x="314535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A8053A49-6968-4653-BAE5-618DEA0F4F50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2" name="PlaceHolder 3"/>
          <p:cNvSpPr>
            <a:spLocks noGrp="1"/>
          </p:cNvSpPr>
          <p:nvPr>
            <p:ph type="dt" idx="21"/>
          </p:nvPr>
        </p:nvSpPr>
        <p:spPr>
          <a:xfrm>
            <a:off x="21927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3" name="New picture" descr=""/>
          <p:cNvPicPr/>
          <p:nvPr/>
        </p:nvPicPr>
        <p:blipFill>
          <a:blip r:embed="rId2"/>
          <a:stretch/>
        </p:blipFill>
        <p:spPr>
          <a:xfrm rot="16200000">
            <a:off x="-11071440" y="1646208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64" name="New picture" descr=""/>
          <p:cNvPicPr/>
          <p:nvPr/>
        </p:nvPicPr>
        <p:blipFill>
          <a:blip r:embed="rId3"/>
          <a:stretch/>
        </p:blipFill>
        <p:spPr>
          <a:xfrm rot="5400000">
            <a:off x="40693680" y="1645920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65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480" cy="1445040"/>
          </a:xfrm>
          <a:prstGeom prst="rect">
            <a:avLst/>
          </a:prstGeom>
          <a:ln w="0">
            <a:noFill/>
          </a:ln>
        </p:spPr>
      </p:pic>
      <p:sp>
        <p:nvSpPr>
          <p:cNvPr id="66" name="New shape"/>
          <p:cNvSpPr/>
          <p:nvPr/>
        </p:nvSpPr>
        <p:spPr>
          <a:xfrm>
            <a:off x="6946920" y="33998040"/>
            <a:ext cx="21942720" cy="126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7" name="PlaceHolder 1"/>
          <p:cNvSpPr>
            <a:spLocks noGrp="1"/>
          </p:cNvSpPr>
          <p:nvPr>
            <p:ph type="title"/>
          </p:nvPr>
        </p:nvSpPr>
        <p:spPr>
          <a:xfrm>
            <a:off x="3291480" y="11003760"/>
            <a:ext cx="37305360" cy="549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68" name="PlaceHolder 2"/>
          <p:cNvSpPr>
            <a:spLocks noGrp="1"/>
          </p:cNvSpPr>
          <p:nvPr>
            <p:ph type="ftr" idx="22"/>
          </p:nvPr>
        </p:nvSpPr>
        <p:spPr>
          <a:xfrm>
            <a:off x="14994360" y="29977560"/>
            <a:ext cx="138992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9" name="PlaceHolder 3"/>
          <p:cNvSpPr>
            <a:spLocks noGrp="1"/>
          </p:cNvSpPr>
          <p:nvPr>
            <p:ph type="sldNum" idx="23"/>
          </p:nvPr>
        </p:nvSpPr>
        <p:spPr>
          <a:xfrm>
            <a:off x="314535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83B89204-6352-4183-A8CD-85745C8F525E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0" name="PlaceHolder 4"/>
          <p:cNvSpPr>
            <a:spLocks noGrp="1"/>
          </p:cNvSpPr>
          <p:nvPr>
            <p:ph type="dt" idx="24"/>
          </p:nvPr>
        </p:nvSpPr>
        <p:spPr>
          <a:xfrm>
            <a:off x="21927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5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New picture" descr=""/>
          <p:cNvPicPr/>
          <p:nvPr/>
        </p:nvPicPr>
        <p:blipFill>
          <a:blip r:embed="rId2"/>
          <a:stretch/>
        </p:blipFill>
        <p:spPr>
          <a:xfrm rot="16200000">
            <a:off x="-11071440" y="1646208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73" name="New picture" descr=""/>
          <p:cNvPicPr/>
          <p:nvPr/>
        </p:nvPicPr>
        <p:blipFill>
          <a:blip r:embed="rId3"/>
          <a:stretch/>
        </p:blipFill>
        <p:spPr>
          <a:xfrm rot="5400000">
            <a:off x="40693680" y="1645920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74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480" cy="1445040"/>
          </a:xfrm>
          <a:prstGeom prst="rect">
            <a:avLst/>
          </a:prstGeom>
          <a:ln w="0">
            <a:noFill/>
          </a:ln>
        </p:spPr>
      </p:pic>
      <p:sp>
        <p:nvSpPr>
          <p:cNvPr id="75" name="New shape"/>
          <p:cNvSpPr/>
          <p:nvPr/>
        </p:nvSpPr>
        <p:spPr>
          <a:xfrm>
            <a:off x="6946920" y="33998040"/>
            <a:ext cx="21942720" cy="126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6" name="PlaceHolder 1"/>
          <p:cNvSpPr>
            <a:spLocks noGrp="1"/>
          </p:cNvSpPr>
          <p:nvPr>
            <p:ph type="ftr" idx="25"/>
          </p:nvPr>
        </p:nvSpPr>
        <p:spPr>
          <a:xfrm>
            <a:off x="14994360" y="29977560"/>
            <a:ext cx="138992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 type="sldNum" idx="26"/>
          </p:nvPr>
        </p:nvSpPr>
        <p:spPr>
          <a:xfrm>
            <a:off x="314535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39FF7A25-8725-4F79-9399-42D9DE201154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8" name="PlaceHolder 3"/>
          <p:cNvSpPr>
            <a:spLocks noGrp="1"/>
          </p:cNvSpPr>
          <p:nvPr>
            <p:ph type="dt" idx="27"/>
          </p:nvPr>
        </p:nvSpPr>
        <p:spPr>
          <a:xfrm>
            <a:off x="21927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5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New picture" descr=""/>
          <p:cNvPicPr/>
          <p:nvPr/>
        </p:nvPicPr>
        <p:blipFill>
          <a:blip r:embed="rId2"/>
          <a:stretch/>
        </p:blipFill>
        <p:spPr>
          <a:xfrm rot="16200000">
            <a:off x="-11071440" y="1646208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80" name="New picture" descr=""/>
          <p:cNvPicPr/>
          <p:nvPr/>
        </p:nvPicPr>
        <p:blipFill>
          <a:blip r:embed="rId3"/>
          <a:stretch/>
        </p:blipFill>
        <p:spPr>
          <a:xfrm rot="5400000">
            <a:off x="40693680" y="1645920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81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480" cy="1445040"/>
          </a:xfrm>
          <a:prstGeom prst="rect">
            <a:avLst/>
          </a:prstGeom>
          <a:ln w="0">
            <a:noFill/>
          </a:ln>
        </p:spPr>
      </p:pic>
      <p:sp>
        <p:nvSpPr>
          <p:cNvPr id="82" name="New shape"/>
          <p:cNvSpPr/>
          <p:nvPr/>
        </p:nvSpPr>
        <p:spPr>
          <a:xfrm>
            <a:off x="6946920" y="33998040"/>
            <a:ext cx="21942720" cy="126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ftr" idx="28"/>
          </p:nvPr>
        </p:nvSpPr>
        <p:spPr>
          <a:xfrm>
            <a:off x="14994360" y="29977560"/>
            <a:ext cx="138992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sldNum" idx="29"/>
          </p:nvPr>
        </p:nvSpPr>
        <p:spPr>
          <a:xfrm>
            <a:off x="314535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43C0731F-E25E-415B-A39E-DA9877842C3B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dt" idx="30"/>
          </p:nvPr>
        </p:nvSpPr>
        <p:spPr>
          <a:xfrm>
            <a:off x="21927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5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6" name="New picture" descr=""/>
          <p:cNvPicPr/>
          <p:nvPr/>
        </p:nvPicPr>
        <p:blipFill>
          <a:blip r:embed="rId2"/>
          <a:stretch/>
        </p:blipFill>
        <p:spPr>
          <a:xfrm rot="16200000">
            <a:off x="-11071440" y="1646208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87" name="New picture" descr=""/>
          <p:cNvPicPr/>
          <p:nvPr/>
        </p:nvPicPr>
        <p:blipFill>
          <a:blip r:embed="rId3"/>
          <a:stretch/>
        </p:blipFill>
        <p:spPr>
          <a:xfrm rot="5400000">
            <a:off x="40693680" y="16459200"/>
            <a:ext cx="14271840" cy="3934080"/>
          </a:xfrm>
          <a:prstGeom prst="rect">
            <a:avLst/>
          </a:prstGeom>
          <a:ln w="0">
            <a:noFill/>
          </a:ln>
        </p:spPr>
      </p:pic>
      <p:pic>
        <p:nvPicPr>
          <p:cNvPr id="88" name="New picture" descr=""/>
          <p:cNvPicPr/>
          <p:nvPr/>
        </p:nvPicPr>
        <p:blipFill>
          <a:blip r:embed="rId4"/>
          <a:stretch/>
        </p:blipFill>
        <p:spPr>
          <a:xfrm>
            <a:off x="6946920" y="33426360"/>
            <a:ext cx="29994480" cy="1445040"/>
          </a:xfrm>
          <a:prstGeom prst="rect">
            <a:avLst/>
          </a:prstGeom>
          <a:ln w="0">
            <a:noFill/>
          </a:ln>
        </p:spPr>
      </p:pic>
      <p:sp>
        <p:nvSpPr>
          <p:cNvPr id="89" name="New shape"/>
          <p:cNvSpPr/>
          <p:nvPr/>
        </p:nvSpPr>
        <p:spPr>
          <a:xfrm>
            <a:off x="6946920" y="33998040"/>
            <a:ext cx="21942720" cy="1267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4560" spc="-1" strike="noStrike">
                <a:solidFill>
                  <a:srgbClr val="808080"/>
                </a:solidFill>
                <a:latin typeface="Arial"/>
                <a:ea typeface="Arial"/>
              </a:rPr>
              <a:t>Template ID: pragmaticgraphite  Size: 48x36</a:t>
            </a:r>
            <a:endParaRPr b="0" lang="en-US" sz="456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0" name="PlaceHolder 1"/>
          <p:cNvSpPr>
            <a:spLocks noGrp="1"/>
          </p:cNvSpPr>
          <p:nvPr>
            <p:ph type="ftr" idx="31"/>
          </p:nvPr>
        </p:nvSpPr>
        <p:spPr>
          <a:xfrm>
            <a:off x="14994360" y="29977560"/>
            <a:ext cx="138992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sldNum" idx="32"/>
          </p:nvPr>
        </p:nvSpPr>
        <p:spPr>
          <a:xfrm>
            <a:off x="314535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 algn="r" defTabSz="3292200">
              <a:lnSpc>
                <a:spcPct val="100000"/>
              </a:lnSpc>
              <a:buNone/>
              <a:tabLst>
                <a:tab algn="l" pos="0"/>
              </a:tabLst>
              <a:defRPr b="0" lang="en-US" sz="5030" spc="-1" strike="noStrike">
                <a:solidFill>
                  <a:schemeClr val="dk1"/>
                </a:solidFill>
                <a:latin typeface="Arial"/>
                <a:ea typeface="Arial"/>
              </a:defRPr>
            </a:lvl1pPr>
          </a:lstStyle>
          <a:p>
            <a:pPr indent="0" algn="r" defTabSz="3292200">
              <a:lnSpc>
                <a:spcPct val="100000"/>
              </a:lnSpc>
              <a:buNone/>
              <a:tabLst>
                <a:tab algn="l" pos="0"/>
              </a:tabLst>
            </a:pPr>
            <a:fld id="{2B56676E-CD29-473A-AEE3-6177919E7D02}" type="slidenum">
              <a:rPr b="0" lang="en-US" sz="5030" spc="-1" strike="noStrike">
                <a:solidFill>
                  <a:schemeClr val="dk1"/>
                </a:solidFill>
                <a:latin typeface="Arial"/>
                <a:ea typeface="Arial"/>
              </a:rPr>
              <a:t>&lt;number&gt;</a:t>
            </a:fld>
            <a:endParaRPr b="0" lang="en-US" sz="503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dt" idx="33"/>
          </p:nvPr>
        </p:nvSpPr>
        <p:spPr>
          <a:xfrm>
            <a:off x="2192760" y="29977560"/>
            <a:ext cx="10241640" cy="2283120"/>
          </a:xfrm>
          <a:prstGeom prst="rect">
            <a:avLst/>
          </a:prstGeom>
          <a:noFill/>
          <a:ln w="0">
            <a:noFill/>
          </a:ln>
        </p:spPr>
        <p:txBody>
          <a:bodyPr lIns="438840" rIns="438840" tIns="219600" bIns="21960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"/>
          <p:cNvSpPr/>
          <p:nvPr/>
        </p:nvSpPr>
        <p:spPr>
          <a:xfrm>
            <a:off x="33147000" y="16651800"/>
            <a:ext cx="10285560" cy="1478556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94" name=""/>
          <p:cNvSpPr/>
          <p:nvPr/>
        </p:nvSpPr>
        <p:spPr>
          <a:xfrm>
            <a:off x="22174200" y="5558400"/>
            <a:ext cx="10514160" cy="2598696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95" name=""/>
          <p:cNvSpPr/>
          <p:nvPr/>
        </p:nvSpPr>
        <p:spPr>
          <a:xfrm>
            <a:off x="33147000" y="6413400"/>
            <a:ext cx="10164960" cy="1020096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720" rIns="108720" tIns="63720" bIns="637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96" name=""/>
          <p:cNvSpPr/>
          <p:nvPr/>
        </p:nvSpPr>
        <p:spPr>
          <a:xfrm>
            <a:off x="11201400" y="5558400"/>
            <a:ext cx="10514160" cy="2598696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97" name=""/>
          <p:cNvSpPr/>
          <p:nvPr/>
        </p:nvSpPr>
        <p:spPr>
          <a:xfrm>
            <a:off x="577800" y="5558400"/>
            <a:ext cx="10164960" cy="1158516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98" name="Rectangle 6"/>
          <p:cNvSpPr/>
          <p:nvPr/>
        </p:nvSpPr>
        <p:spPr>
          <a:xfrm>
            <a:off x="0" y="3240"/>
            <a:ext cx="43888320" cy="5252040"/>
          </a:xfrm>
          <a:prstGeom prst="rect">
            <a:avLst/>
          </a:prstGeom>
          <a:solidFill>
            <a:srgbClr val="21314d"/>
          </a:solidFill>
          <a:ln w="3810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68760" bIns="68760" anchor="ctr">
            <a:noAutofit/>
          </a:bodyPr>
          <a:p>
            <a:pPr algn="ctr" defTabSz="4703760">
              <a:lnSpc>
                <a:spcPct val="100000"/>
              </a:lnSpc>
            </a:pPr>
            <a:endParaRPr b="1" lang="en-US" sz="5400" spc="-1" strike="noStrike">
              <a:solidFill>
                <a:schemeClr val="dk2"/>
              </a:solidFill>
              <a:latin typeface="Gill Sans"/>
              <a:ea typeface="Arial"/>
            </a:endParaRPr>
          </a:p>
        </p:txBody>
      </p:sp>
      <p:sp>
        <p:nvSpPr>
          <p:cNvPr id="99" name="TextBox 19"/>
          <p:cNvSpPr/>
          <p:nvPr/>
        </p:nvSpPr>
        <p:spPr>
          <a:xfrm>
            <a:off x="609480" y="6666480"/>
            <a:ext cx="9598320" cy="10059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spcBef>
                <a:spcPts val="1417"/>
              </a:spcBef>
            </a:pPr>
            <a:r>
              <a:rPr b="0" lang="en-US" sz="3600" spc="-1" strike="noStrike">
                <a:solidFill>
                  <a:schemeClr val="dk1"/>
                </a:solidFill>
                <a:latin typeface="Open Sans"/>
                <a:ea typeface="Open Sans"/>
              </a:rPr>
              <a:t>Classical CFD modeling methods struggle to scale for real-world applications.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r>
              <a:rPr b="0" lang="en-US" sz="3600" spc="-1" strike="noStrike">
                <a:solidFill>
                  <a:schemeClr val="dk1"/>
                </a:solidFill>
                <a:latin typeface="Open Sans"/>
                <a:ea typeface="Open Sans"/>
              </a:rPr>
              <a:t>Quantum Architecture Search (QAS) and other machine-learning techniques can generate viable quantum circuits.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  <a:spcBef>
                <a:spcPts val="1417"/>
              </a:spcBef>
            </a:pPr>
            <a:r>
              <a:rPr b="0" lang="en-US" sz="4400" spc="-1" strike="noStrike">
                <a:solidFill>
                  <a:schemeClr val="dk1"/>
                </a:solidFill>
                <a:latin typeface="Open Sans"/>
                <a:ea typeface="Open Sans"/>
              </a:rPr>
              <a:t>This work proposes the use LLMs for quantum circuit generation.</a:t>
            </a: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0" name="Text Placeholder 5"/>
          <p:cNvSpPr/>
          <p:nvPr/>
        </p:nvSpPr>
        <p:spPr>
          <a:xfrm>
            <a:off x="7543800" y="410400"/>
            <a:ext cx="28801080" cy="293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ctr" defTabSz="3760920">
              <a:lnSpc>
                <a:spcPct val="100000"/>
              </a:lnSpc>
              <a:spcBef>
                <a:spcPts val="1701"/>
              </a:spcBef>
              <a:tabLst>
                <a:tab algn="l" pos="0"/>
              </a:tabLst>
            </a:pPr>
            <a:r>
              <a:rPr b="0" lang="en-US" sz="8500" spc="-1" strike="noStrike">
                <a:solidFill>
                  <a:srgbClr val="ffffff"/>
                </a:solidFill>
                <a:latin typeface="Bree Serif"/>
                <a:ea typeface="Arial"/>
              </a:rPr>
              <a:t>Diffusing Quantum Circuits for Computational Fluid Dynamics</a:t>
            </a:r>
            <a:endParaRPr b="0" lang="en-US" sz="85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1" name="Text Placeholder 5"/>
          <p:cNvSpPr/>
          <p:nvPr/>
        </p:nvSpPr>
        <p:spPr>
          <a:xfrm>
            <a:off x="851040" y="3321000"/>
            <a:ext cx="36573120" cy="26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5600" spc="-1" strike="noStrike">
                <a:solidFill>
                  <a:srgbClr val="ffffff"/>
                </a:solidFill>
                <a:latin typeface="Open Sans"/>
                <a:ea typeface="Open Sans"/>
              </a:rPr>
              <a:t>                                                                  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4000" spc="-1" strike="noStrike">
                <a:solidFill>
                  <a:srgbClr val="ffffff"/>
                </a:solidFill>
                <a:latin typeface="Open Sans"/>
                <a:ea typeface="Open Sans"/>
              </a:rPr>
              <a:t>  </a:t>
            </a:r>
            <a:r>
              <a:rPr b="0" lang="en-US" sz="4000" spc="-1" strike="noStrike">
                <a:solidFill>
                  <a:srgbClr val="ffffff"/>
                </a:solidFill>
                <a:latin typeface="Open Sans"/>
                <a:ea typeface="Open Sans"/>
              </a:rPr>
              <a:t>Department of Computer Science                 Department of Computer Science                       NVIDIA</a:t>
            </a:r>
            <a:endParaRPr b="0" lang="en-US" sz="4000" spc="-1" strike="noStrike">
              <a:solidFill>
                <a:srgbClr val="000000"/>
              </a:solidFill>
              <a:latin typeface="Arial"/>
            </a:endParaRPr>
          </a:p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2" name="TextBox 19"/>
          <p:cNvSpPr/>
          <p:nvPr/>
        </p:nvSpPr>
        <p:spPr>
          <a:xfrm>
            <a:off x="11633040" y="6666480"/>
            <a:ext cx="9598320" cy="194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algn="just">
              <a:lnSpc>
                <a:spcPct val="11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Enclaves like Keystone provide hardware guarantees that data is safe from a malicious: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 algn="just">
              <a:lnSpc>
                <a:spcPct val="11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Application thread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 algn="just">
              <a:lnSpc>
                <a:spcPct val="11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Operating System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432000" indent="-216000" algn="just">
              <a:lnSpc>
                <a:spcPct val="110000"/>
              </a:lnSpc>
              <a:buClr>
                <a:srgbClr val="000000"/>
              </a:buClr>
              <a:buSzPct val="45000"/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Remote User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Keystone segments memory &amp; defines rules for different threads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Contributions have been proposed to extend the security of Keystone by providing secure memory protocols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3" name="TextBox 19"/>
          <p:cNvSpPr/>
          <p:nvPr/>
        </p:nvSpPr>
        <p:spPr>
          <a:xfrm>
            <a:off x="22656960" y="6666480"/>
            <a:ext cx="9598320" cy="2377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gem5 presents architectural design as typical class structures with attributes based on the behavior of the real world component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For example, to properly connect the PMP to the proposed ePMP, it is either necessary to write a new: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	</a:t>
            </a: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- Packet type, bypassing the cache hierarchy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Or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	</a:t>
            </a: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- Port type directly connecting the core(s) to the Memory Encryption Engine 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Developers wishing to extend Keystone components can create their own version of the desired component’s class structure, often requiring close attention to: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	</a:t>
            </a: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- Port connections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algn="just">
              <a:lnSpc>
                <a:spcPct val="110000"/>
              </a:lnSpc>
              <a:spcBef>
                <a:spcPts val="283"/>
              </a:spcBef>
              <a:spcAft>
                <a:spcPts val="283"/>
              </a:spcAft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	</a:t>
            </a: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- Packet handling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4" name="TextBox 19"/>
          <p:cNvSpPr/>
          <p:nvPr/>
        </p:nvSpPr>
        <p:spPr>
          <a:xfrm>
            <a:off x="33604200" y="21673440"/>
            <a:ext cx="9598320" cy="1698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 algn="just">
              <a:lnSpc>
                <a:spcPct val="110000"/>
              </a:lnSpc>
              <a:buClr>
                <a:srgbClr val="000000"/>
              </a:buClr>
              <a:buFont typeface="Symbol" charset="2"/>
              <a:buChar char=""/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Designs in simulation can be tested on real workloads and state-of-the-art or custom benchmarks.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5" name="TextBox 19"/>
          <p:cNvSpPr/>
          <p:nvPr/>
        </p:nvSpPr>
        <p:spPr>
          <a:xfrm>
            <a:off x="33256440" y="6746760"/>
            <a:ext cx="9598320" cy="1553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Font typeface="Symbol" charset="2"/>
              <a:buChar char=""/>
              <a:tabLst>
                <a:tab algn="l" pos="0"/>
              </a:tabLst>
            </a:pPr>
            <a:r>
              <a:rPr b="0" lang="en-US" sz="3200" spc="-1" strike="noStrike">
                <a:solidFill>
                  <a:schemeClr val="dk1"/>
                </a:solidFill>
                <a:latin typeface="Open Sans"/>
                <a:ea typeface="Open Sans"/>
              </a:rPr>
              <a:t>In order to further protect state-of-the-art TEEs, Keystone is extended to include secure memory protocols in the gem5 simulation environment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06" name="TextBox 19"/>
          <p:cNvSpPr/>
          <p:nvPr/>
        </p:nvSpPr>
        <p:spPr>
          <a:xfrm>
            <a:off x="-4036320" y="9446400"/>
            <a:ext cx="9598320" cy="691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07" name="Rectangle 6"/>
          <p:cNvSpPr/>
          <p:nvPr/>
        </p:nvSpPr>
        <p:spPr>
          <a:xfrm>
            <a:off x="0" y="32004000"/>
            <a:ext cx="43888320" cy="911520"/>
          </a:xfrm>
          <a:prstGeom prst="rect">
            <a:avLst/>
          </a:prstGeom>
          <a:solidFill>
            <a:srgbClr val="c8c8c8"/>
          </a:solidFill>
          <a:ln w="38100">
            <a:noFill/>
          </a:ln>
        </p:spPr>
        <p:style>
          <a:lnRef idx="0"/>
          <a:fillRef idx="0"/>
          <a:effectRef idx="0"/>
          <a:fontRef idx="minor"/>
        </p:style>
        <p:txBody>
          <a:bodyPr lIns="137160" rIns="137160" tIns="68760" bIns="68760" anchor="ctr">
            <a:noAutofit/>
          </a:bodyPr>
          <a:p>
            <a:pPr algn="ctr" defTabSz="4703760">
              <a:lnSpc>
                <a:spcPct val="100000"/>
              </a:lnSpc>
            </a:pPr>
            <a:endParaRPr b="1" lang="en-US" sz="5400" spc="-1" strike="noStrike">
              <a:solidFill>
                <a:schemeClr val="dk2"/>
              </a:solidFill>
              <a:latin typeface="Gill Sans"/>
              <a:ea typeface="Arial"/>
            </a:endParaRPr>
          </a:p>
        </p:txBody>
      </p:sp>
      <p:pic>
        <p:nvPicPr>
          <p:cNvPr id="108" name="" descr=""/>
          <p:cNvPicPr/>
          <p:nvPr/>
        </p:nvPicPr>
        <p:blipFill>
          <a:blip r:embed="rId1"/>
          <a:srcRect l="0" t="2114" r="0" b="4111"/>
          <a:stretch/>
        </p:blipFill>
        <p:spPr>
          <a:xfrm>
            <a:off x="12141000" y="16847640"/>
            <a:ext cx="9142560" cy="7068960"/>
          </a:xfrm>
          <a:prstGeom prst="rect">
            <a:avLst/>
          </a:prstGeom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36307440" y="8807400"/>
            <a:ext cx="3476160" cy="3085920"/>
          </a:xfrm>
          <a:prstGeom prst="ellipse">
            <a:avLst/>
          </a:prstGeom>
          <a:noFill/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720" rIns="108720" tIns="63720" bIns="637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Study Keystone class structures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39434040" y="13049280"/>
            <a:ext cx="3529800" cy="3035880"/>
          </a:xfrm>
          <a:prstGeom prst="ellipse">
            <a:avLst/>
          </a:prstGeom>
          <a:noFill/>
          <a:ln w="38160">
            <a:solidFill>
              <a:srgbClr val="069a2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720" rIns="108720" tIns="63720" bIns="6372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Implement design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33700680" y="13188240"/>
            <a:ext cx="3237840" cy="2896920"/>
          </a:xfrm>
          <a:prstGeom prst="ellipse">
            <a:avLst/>
          </a:prstGeom>
          <a:noFill/>
          <a:ln w="38160">
            <a:solidFill>
              <a:srgbClr val="ea75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Benchmark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 rot="3166200">
            <a:off x="38732040" y="12114360"/>
            <a:ext cx="1541160" cy="880200"/>
          </a:xfrm>
          <a:prstGeom prst="rightArrow">
            <a:avLst>
              <a:gd name="adj1" fmla="val 50000"/>
              <a:gd name="adj2" fmla="val 43750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720" rIns="108720" tIns="63720" bIns="637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13" name=""/>
          <p:cNvSpPr/>
          <p:nvPr/>
        </p:nvSpPr>
        <p:spPr>
          <a:xfrm rot="18804600">
            <a:off x="35894880" y="12049200"/>
            <a:ext cx="1541880" cy="879840"/>
          </a:xfrm>
          <a:prstGeom prst="rightArrow">
            <a:avLst>
              <a:gd name="adj1" fmla="val 50000"/>
              <a:gd name="adj2" fmla="val 43750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720" rIns="108720" tIns="63720" bIns="637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14" name=""/>
          <p:cNvSpPr/>
          <p:nvPr/>
        </p:nvSpPr>
        <p:spPr>
          <a:xfrm rot="10800000">
            <a:off x="37351440" y="13581360"/>
            <a:ext cx="1541880" cy="879480"/>
          </a:xfrm>
          <a:prstGeom prst="rightArrow">
            <a:avLst>
              <a:gd name="adj1" fmla="val 50000"/>
              <a:gd name="adj2" fmla="val 43750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8720" rIns="108720" tIns="63720" bIns="6372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15" name=""/>
          <p:cNvSpPr/>
          <p:nvPr/>
        </p:nvSpPr>
        <p:spPr>
          <a:xfrm>
            <a:off x="34829280" y="18384120"/>
            <a:ext cx="2603160" cy="2776680"/>
          </a:xfrm>
          <a:prstGeom prst="rect">
            <a:avLst/>
          </a:prstGeom>
          <a:solidFill>
            <a:srgbClr val="77bc6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Development in Syscall-Emulation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6" name=""/>
          <p:cNvSpPr/>
          <p:nvPr/>
        </p:nvSpPr>
        <p:spPr>
          <a:xfrm>
            <a:off x="39151080" y="18384120"/>
            <a:ext cx="2603160" cy="2776680"/>
          </a:xfrm>
          <a:prstGeom prst="rect">
            <a:avLst/>
          </a:prstGeom>
          <a:solidFill>
            <a:srgbClr val="ffe99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Full-system Testing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37785240" y="18685800"/>
            <a:ext cx="1206000" cy="515160"/>
          </a:xfrm>
          <a:prstGeom prst="rightArrow">
            <a:avLst>
              <a:gd name="adj1" fmla="val 50000"/>
              <a:gd name="adj2" fmla="val 58333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18" name=""/>
          <p:cNvSpPr/>
          <p:nvPr/>
        </p:nvSpPr>
        <p:spPr>
          <a:xfrm rot="10800000">
            <a:off x="37674720" y="20155680"/>
            <a:ext cx="1213560" cy="519120"/>
          </a:xfrm>
          <a:prstGeom prst="rightArrow">
            <a:avLst>
              <a:gd name="adj1" fmla="val 50000"/>
              <a:gd name="adj2" fmla="val 58333"/>
            </a:avLst>
          </a:prstGeom>
          <a:noFill/>
          <a:ln w="38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19" name=""/>
          <p:cNvSpPr/>
          <p:nvPr/>
        </p:nvSpPr>
        <p:spPr>
          <a:xfrm>
            <a:off x="11765160" y="26814960"/>
            <a:ext cx="1754640" cy="75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en-US" sz="2200" spc="-1" strike="noStrike">
                <a:solidFill>
                  <a:srgbClr val="000000"/>
                </a:solidFill>
                <a:latin typeface="Open Sans"/>
                <a:ea typeface="Arial"/>
              </a:rPr>
              <a:t>User 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algn="r">
              <a:lnSpc>
                <a:spcPct val="100000"/>
              </a:lnSpc>
            </a:pPr>
            <a:r>
              <a:rPr b="0" lang="en-US" sz="2200" spc="-1" strike="noStrike">
                <a:solidFill>
                  <a:srgbClr val="000000"/>
                </a:solidFill>
                <a:latin typeface="Open Sans"/>
                <a:ea typeface="Arial"/>
              </a:rPr>
              <a:t>(U-Mode)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0" name=""/>
          <p:cNvSpPr/>
          <p:nvPr/>
        </p:nvSpPr>
        <p:spPr>
          <a:xfrm>
            <a:off x="13557600" y="26263800"/>
            <a:ext cx="2632680" cy="2133360"/>
          </a:xfrm>
          <a:prstGeom prst="rect">
            <a:avLst/>
          </a:prstGeom>
          <a:solidFill>
            <a:srgbClr val="ffd7d7"/>
          </a:solidFill>
          <a:ln w="0">
            <a:solidFill>
              <a:srgbClr val="ffffff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Untrusted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13649400" y="26832240"/>
            <a:ext cx="876600" cy="64332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App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15216840" y="26832240"/>
            <a:ext cx="876240" cy="64332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App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11981160" y="27756000"/>
            <a:ext cx="1506600" cy="74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en-US" sz="2100" spc="-1" strike="noStrike">
                <a:solidFill>
                  <a:srgbClr val="000000"/>
                </a:solidFill>
                <a:latin typeface="Open Sans"/>
                <a:ea typeface="Arial"/>
              </a:rPr>
              <a:t>Supervisor 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algn="r">
              <a:lnSpc>
                <a:spcPct val="100000"/>
              </a:lnSpc>
            </a:pPr>
            <a:r>
              <a:rPr b="0" lang="en-US" sz="2100" spc="-1" strike="noStrike">
                <a:solidFill>
                  <a:srgbClr val="000000"/>
                </a:solidFill>
                <a:latin typeface="Open Sans"/>
                <a:ea typeface="Arial"/>
              </a:rPr>
              <a:t>(S-Mode)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11729160" y="28591920"/>
            <a:ext cx="1749240" cy="75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en-US" sz="2200" spc="-1" strike="noStrike">
                <a:solidFill>
                  <a:srgbClr val="000000"/>
                </a:solidFill>
                <a:latin typeface="Open Sans"/>
                <a:ea typeface="Arial"/>
              </a:rPr>
              <a:t>Machine 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  <a:p>
            <a:pPr algn="r">
              <a:lnSpc>
                <a:spcPct val="100000"/>
              </a:lnSpc>
            </a:pPr>
            <a:r>
              <a:rPr b="0" lang="en-US" sz="2200" spc="-1" strike="noStrike">
                <a:solidFill>
                  <a:srgbClr val="000000"/>
                </a:solidFill>
                <a:latin typeface="Open Sans"/>
                <a:ea typeface="Arial"/>
              </a:rPr>
              <a:t>(M-Mode)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13741560" y="27700560"/>
            <a:ext cx="2248560" cy="64332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5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Operating System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algn="ctr">
              <a:lnSpc>
                <a:spcPct val="115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 </a:t>
            </a: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(OS)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16418520" y="26263800"/>
            <a:ext cx="2339640" cy="2133360"/>
          </a:xfrm>
          <a:custGeom>
            <a:avLst/>
            <a:gdLst>
              <a:gd name="textAreaLeft" fmla="*/ 113760 w 2339640"/>
              <a:gd name="textAreaRight" fmla="*/ 2226960 w 2339640"/>
              <a:gd name="textAreaTop" fmla="*/ 97560 h 2133360"/>
              <a:gd name="textAreaBottom" fmla="*/ 2036880 h 2133360"/>
            </a:gdLst>
            <a:ahLst/>
            <a:rect l="textAreaLeft" t="textAreaTop" r="textAreaRight" b="textAreaBottom"/>
            <a:pathLst>
              <a:path w="21600" h="23005">
                <a:moveTo>
                  <a:pt x="3600" y="0"/>
                </a:moveTo>
                <a:arcTo wR="3600" hR="3600" stAng="16200000" swAng="-5400000"/>
                <a:lnTo>
                  <a:pt x="0" y="19405"/>
                </a:lnTo>
                <a:arcTo wR="3600" hR="3600" stAng="10800000" swAng="-5400000"/>
                <a:lnTo>
                  <a:pt x="18000" y="23005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b4c7dc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Enclave 1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16641360" y="26832240"/>
            <a:ext cx="1915920" cy="64332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5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Enclave App 1 (Eapp)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16549560" y="27688320"/>
            <a:ext cx="2116440" cy="53712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5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Runtime (RT) 1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19004400" y="26264160"/>
            <a:ext cx="1789200" cy="2133000"/>
          </a:xfrm>
          <a:custGeom>
            <a:avLst/>
            <a:gdLst>
              <a:gd name="textAreaLeft" fmla="*/ 86760 w 1789200"/>
              <a:gd name="textAreaRight" fmla="*/ 1703520 w 1789200"/>
              <a:gd name="textAreaTop" fmla="*/ 74520 h 2133000"/>
              <a:gd name="textAreaBottom" fmla="*/ 2059560 h 2133000"/>
            </a:gdLst>
            <a:ahLst/>
            <a:rect l="textAreaLeft" t="textAreaTop" r="textAreaRight" b="textAreaBottom"/>
            <a:pathLst>
              <a:path w="21600" h="30074">
                <a:moveTo>
                  <a:pt x="3600" y="0"/>
                </a:moveTo>
                <a:arcTo wR="3600" hR="3600" stAng="16200000" swAng="-5400000"/>
                <a:lnTo>
                  <a:pt x="0" y="26474"/>
                </a:lnTo>
                <a:arcTo wR="3600" hR="3600" stAng="10800000" swAng="-5400000"/>
                <a:lnTo>
                  <a:pt x="18000" y="30074"/>
                </a:lnTo>
                <a:arcTo wR="3600" hR="3600" stAng="5400000" swAng="-5400000"/>
                <a:lnTo>
                  <a:pt x="21600" y="3600"/>
                </a:lnTo>
                <a:arcTo wR="3600" hR="3600" stAng="0" swAng="-5400000"/>
                <a:close/>
              </a:path>
            </a:pathLst>
          </a:custGeom>
          <a:solidFill>
            <a:srgbClr val="b4c7dc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Enclave 2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19196280" y="26832960"/>
            <a:ext cx="1345680" cy="64296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5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Eapp 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19117440" y="27688680"/>
            <a:ext cx="1424520" cy="537120"/>
          </a:xfrm>
          <a:prstGeom prst="rect">
            <a:avLst/>
          </a:prstGeom>
          <a:solidFill>
            <a:srgbClr val="ffffff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15000"/>
              </a:lnSpc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  <a:ea typeface="Arial"/>
              </a:rPr>
              <a:t>RT 2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 flipV="1">
            <a:off x="11988000" y="27516600"/>
            <a:ext cx="8887680" cy="53640"/>
          </a:xfrm>
          <a:prstGeom prst="line">
            <a:avLst/>
          </a:prstGeom>
          <a:ln cap="rnd" w="29160">
            <a:solidFill>
              <a:srgbClr val="3465a4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104760" rIns="104760" tIns="23040" bIns="2304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33" name=""/>
          <p:cNvSpPr/>
          <p:nvPr/>
        </p:nvSpPr>
        <p:spPr>
          <a:xfrm flipV="1">
            <a:off x="11988360" y="28384920"/>
            <a:ext cx="8888040" cy="53640"/>
          </a:xfrm>
          <a:prstGeom prst="line">
            <a:avLst/>
          </a:prstGeom>
          <a:ln cap="rnd" w="29160">
            <a:solidFill>
              <a:srgbClr val="3465a4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104760" rIns="104760" tIns="22680" bIns="226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13472280" y="28638360"/>
            <a:ext cx="7477560" cy="146952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381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13557960" y="28752840"/>
            <a:ext cx="7269840" cy="4989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200" spc="-1" strike="noStrike">
                <a:solidFill>
                  <a:srgbClr val="000000"/>
                </a:solidFill>
                <a:latin typeface="Arial"/>
                <a:ea typeface="Arial"/>
              </a:rPr>
              <a:t>Security Monitor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11981160" y="29352240"/>
            <a:ext cx="1502280" cy="74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r">
              <a:lnSpc>
                <a:spcPct val="100000"/>
              </a:lnSpc>
            </a:pPr>
            <a:r>
              <a:rPr b="0" lang="en-US" sz="2200" spc="-1" strike="noStrike">
                <a:solidFill>
                  <a:srgbClr val="000000"/>
                </a:solidFill>
                <a:latin typeface="Open Sans"/>
                <a:ea typeface="Arial"/>
              </a:rPr>
              <a:t>Trusted Hardware</a:t>
            </a:r>
            <a:endParaRPr b="0" lang="en-US" sz="2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13552200" y="29386080"/>
            <a:ext cx="7246440" cy="615960"/>
          </a:xfrm>
          <a:prstGeom prst="rect">
            <a:avLst/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13633200" y="29481120"/>
            <a:ext cx="1932480" cy="4413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000000"/>
                </a:solidFill>
                <a:latin typeface="Arial"/>
                <a:ea typeface="Arial"/>
              </a:rPr>
              <a:t>RISC-V Cores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15697440" y="29481120"/>
            <a:ext cx="2982960" cy="44136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000000"/>
                </a:solidFill>
                <a:latin typeface="Arial"/>
                <a:ea typeface="Arial"/>
              </a:rPr>
              <a:t>Optional H/W Features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18806400" y="29482200"/>
            <a:ext cx="1933200" cy="441000"/>
          </a:xfrm>
          <a:prstGeom prst="rect">
            <a:avLst/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100" spc="-1" strike="noStrike">
                <a:solidFill>
                  <a:srgbClr val="000000"/>
                </a:solidFill>
                <a:latin typeface="Arial"/>
                <a:ea typeface="Arial"/>
              </a:rPr>
              <a:t>Root of Trust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33809400" y="23801400"/>
            <a:ext cx="5256000" cy="2512800"/>
          </a:xfrm>
          <a:prstGeom prst="roundRect">
            <a:avLst>
              <a:gd name="adj" fmla="val 16667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Real Benchmarks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39421080" y="23801400"/>
            <a:ext cx="3655800" cy="251280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Tailored Benchmarks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34302600" y="24859800"/>
            <a:ext cx="2055600" cy="11412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Open Sans"/>
                <a:ea typeface="Arial"/>
              </a:rPr>
              <a:t>Simulation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36750600" y="24859800"/>
            <a:ext cx="2055600" cy="11412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Open Sans"/>
                <a:ea typeface="Arial"/>
              </a:rPr>
              <a:t>Fabrication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5" name=""/>
          <p:cNvSpPr/>
          <p:nvPr/>
        </p:nvSpPr>
        <p:spPr>
          <a:xfrm>
            <a:off x="40242600" y="24859800"/>
            <a:ext cx="2055600" cy="114120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Open Sans"/>
                <a:ea typeface="Arial"/>
              </a:rPr>
              <a:t>FPGA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 rot="5382000">
            <a:off x="33724800" y="27770760"/>
            <a:ext cx="3306960" cy="1770480"/>
          </a:xfrm>
          <a:prstGeom prst="rightArrow">
            <a:avLst>
              <a:gd name="adj1" fmla="val 50000"/>
              <a:gd name="adj2" fmla="val 46674"/>
            </a:avLst>
          </a:prstGeom>
          <a:solidFill>
            <a:srgbClr val="729fc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Open Sans"/>
                <a:ea typeface="Arial"/>
              </a:rPr>
              <a:t>Development Time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36311400" y="27685080"/>
            <a:ext cx="6400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37132200" y="26928000"/>
            <a:ext cx="4494600" cy="750240"/>
          </a:xfrm>
          <a:prstGeom prst="rect">
            <a:avLst/>
          </a:prstGeom>
          <a:solidFill>
            <a:srgbClr val="ffa6a6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Fabrication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9" name=""/>
          <p:cNvSpPr/>
          <p:nvPr/>
        </p:nvSpPr>
        <p:spPr>
          <a:xfrm>
            <a:off x="36311400" y="28909080"/>
            <a:ext cx="6400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50" name=""/>
          <p:cNvSpPr/>
          <p:nvPr/>
        </p:nvSpPr>
        <p:spPr>
          <a:xfrm>
            <a:off x="37132200" y="28152000"/>
            <a:ext cx="4494600" cy="750240"/>
          </a:xfrm>
          <a:prstGeom prst="rect">
            <a:avLst/>
          </a:prstGeom>
          <a:solidFill>
            <a:srgbClr val="ffe994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FPGA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1" name=""/>
          <p:cNvSpPr/>
          <p:nvPr/>
        </p:nvSpPr>
        <p:spPr>
          <a:xfrm>
            <a:off x="36311400" y="30241080"/>
            <a:ext cx="6400080" cy="360"/>
          </a:xfrm>
          <a:prstGeom prst="line">
            <a:avLst/>
          </a:prstGeom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-45000" bIns="-4500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37132200" y="29484000"/>
            <a:ext cx="4494600" cy="75024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  <a:ea typeface="Arial"/>
              </a:rPr>
              <a:t>Simulation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12115800" y="9637200"/>
            <a:ext cx="8456400" cy="1907280"/>
          </a:xfrm>
          <a:prstGeom prst="roundRect">
            <a:avLst>
              <a:gd name="adj" fmla="val 16667"/>
            </a:avLst>
          </a:prstGeom>
          <a:solidFill>
            <a:srgbClr val="b2b2b2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Potentially Malicious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12585600" y="10290960"/>
            <a:ext cx="1877760" cy="9529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Arial"/>
              </a:rPr>
              <a:t>Application Thread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15434640" y="10290960"/>
            <a:ext cx="1877760" cy="9529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Operating System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18357840" y="10290960"/>
            <a:ext cx="1877760" cy="952920"/>
          </a:xfrm>
          <a:prstGeom prst="rect">
            <a:avLst/>
          </a:prstGeom>
          <a:solidFill>
            <a:srgbClr val="ffffff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600" spc="-1" strike="noStrike">
                <a:solidFill>
                  <a:srgbClr val="000000"/>
                </a:solidFill>
                <a:latin typeface="Arial"/>
                <a:ea typeface="Arial"/>
              </a:rPr>
              <a:t>Remote or Cloud User</a:t>
            </a:r>
            <a:endParaRPr b="0" lang="en-US" sz="2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14317200" y="13941720"/>
            <a:ext cx="4227840" cy="1135440"/>
          </a:xfrm>
          <a:prstGeom prst="roundRect">
            <a:avLst>
              <a:gd name="adj" fmla="val 16667"/>
            </a:avLst>
          </a:prstGeom>
          <a:solidFill>
            <a:srgbClr val="b4c7dc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Main Memory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58" name=""/>
          <p:cNvSpPr/>
          <p:nvPr/>
        </p:nvSpPr>
        <p:spPr>
          <a:xfrm>
            <a:off x="13760280" y="11546280"/>
            <a:ext cx="1533960" cy="71568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15294240" y="12261960"/>
            <a:ext cx="2099520" cy="952920"/>
          </a:xfrm>
          <a:prstGeom prst="rect">
            <a:avLst/>
          </a:prstGeom>
          <a:solidFill>
            <a:srgbClr val="afd095"/>
          </a:solidFill>
          <a:ln w="0">
            <a:solidFill>
              <a:srgbClr val="3465a4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  <a:ea typeface="Arial"/>
              </a:rPr>
              <a:t>Keystone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16332120" y="11546280"/>
            <a:ext cx="360" cy="71568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61" name=""/>
          <p:cNvSpPr/>
          <p:nvPr/>
        </p:nvSpPr>
        <p:spPr>
          <a:xfrm flipH="1">
            <a:off x="17395560" y="11546280"/>
            <a:ext cx="1768680" cy="71568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16345080" y="13226040"/>
            <a:ext cx="360" cy="715680"/>
          </a:xfrm>
          <a:prstGeom prst="line">
            <a:avLst/>
          </a:prstGeom>
          <a:ln w="38160">
            <a:solidFill>
              <a:srgbClr val="3465a4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615960" y="5558400"/>
            <a:ext cx="10126800" cy="84096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pc="-1" strike="noStrike">
                <a:solidFill>
                  <a:srgbClr val="ffffff"/>
                </a:solidFill>
                <a:latin typeface="Bree Serif"/>
                <a:ea typeface="Arial"/>
              </a:rPr>
              <a:t>Abstract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11230920" y="5558400"/>
            <a:ext cx="10484640" cy="84096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600" spc="-1" strike="noStrike">
                <a:solidFill>
                  <a:srgbClr val="ffffff"/>
                </a:solidFill>
                <a:latin typeface="Bree Serif"/>
                <a:ea typeface="Arial"/>
              </a:rPr>
              <a:t>Keystone</a:t>
            </a:r>
            <a:endParaRPr b="0" lang="en-US" sz="4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33147000" y="5571000"/>
            <a:ext cx="10126800" cy="84096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pc="-1" strike="noStrike">
                <a:solidFill>
                  <a:srgbClr val="ffffff"/>
                </a:solidFill>
                <a:latin typeface="Bree Serif"/>
                <a:ea typeface="Arial"/>
              </a:rPr>
              <a:t>Workflow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22213440" y="5558400"/>
            <a:ext cx="10474920" cy="84096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pc="-1" strike="noStrike">
                <a:solidFill>
                  <a:srgbClr val="ffffff"/>
                </a:solidFill>
                <a:latin typeface="Bree Serif"/>
                <a:ea typeface="Arial"/>
              </a:rPr>
              <a:t>gem5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33187320" y="16618320"/>
            <a:ext cx="10182960" cy="83592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pc="-1" strike="noStrike">
                <a:solidFill>
                  <a:srgbClr val="ffffff"/>
                </a:solidFill>
                <a:latin typeface="Bree Serif"/>
                <a:ea typeface="Arial"/>
              </a:rPr>
              <a:t>Insights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68" name="" descr=""/>
          <p:cNvPicPr/>
          <p:nvPr/>
        </p:nvPicPr>
        <p:blipFill>
          <a:blip r:embed="rId2"/>
          <a:stretch/>
        </p:blipFill>
        <p:spPr>
          <a:xfrm>
            <a:off x="33832800" y="3477600"/>
            <a:ext cx="10238760" cy="1759680"/>
          </a:xfrm>
          <a:prstGeom prst="rect">
            <a:avLst/>
          </a:prstGeom>
          <a:ln w="0">
            <a:noFill/>
          </a:ln>
        </p:spPr>
      </p:pic>
      <p:pic>
        <p:nvPicPr>
          <p:cNvPr id="169" name="" descr=""/>
          <p:cNvPicPr/>
          <p:nvPr/>
        </p:nvPicPr>
        <p:blipFill>
          <a:blip r:embed="rId3"/>
          <a:stretch/>
        </p:blipFill>
        <p:spPr>
          <a:xfrm>
            <a:off x="23545800" y="12994200"/>
            <a:ext cx="8228160" cy="13981320"/>
          </a:xfrm>
          <a:prstGeom prst="rect">
            <a:avLst/>
          </a:prstGeom>
          <a:ln w="0">
            <a:noFill/>
          </a:ln>
        </p:spPr>
      </p:pic>
      <p:sp>
        <p:nvSpPr>
          <p:cNvPr id="170" name=""/>
          <p:cNvSpPr/>
          <p:nvPr/>
        </p:nvSpPr>
        <p:spPr>
          <a:xfrm>
            <a:off x="577800" y="17602200"/>
            <a:ext cx="10164960" cy="13943160"/>
          </a:xfrm>
          <a:prstGeom prst="rect">
            <a:avLst/>
          </a:prstGeom>
          <a:solidFill>
            <a:srgbClr val="ffffff"/>
          </a:solidFill>
          <a:ln w="38160">
            <a:solidFill>
              <a:srgbClr val="3465a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t">
            <a:noAutofit/>
          </a:bodyPr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chemeClr val="dk1"/>
                </a:solidFill>
                <a:latin typeface="Open Sans"/>
                <a:ea typeface="Open Sans"/>
              </a:rPr>
              <a:t>Quantum Hardware is noisy &amp; reliable algorithm design is non-trivial.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chemeClr val="dk1"/>
                </a:solidFill>
                <a:latin typeface="Open Sans"/>
                <a:ea typeface="Open Sans"/>
              </a:rPr>
              <a:t>Quantum-inspired CFD Algorithms have shown to be atleast as efficient as classical Navier-Stokes simulations.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chemeClr val="dk1"/>
                </a:solidFill>
                <a:latin typeface="Open Sans"/>
                <a:ea typeface="Open Sans"/>
              </a:rPr>
              <a:t>Reliable execution on quantum hardware is directly related to quantum circuit properties.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600" spc="-1" strike="noStrike">
                <a:solidFill>
                  <a:schemeClr val="dk1"/>
                </a:solidFill>
                <a:latin typeface="Open Sans"/>
                <a:ea typeface="Open Sans"/>
              </a:rPr>
              <a:t>Quantum Architecture methods such as gate cutting can further improve the fidelity of a quantum circuit.</a:t>
            </a:r>
            <a:endParaRPr b="0" lang="en-US" sz="36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Open Sans"/>
                <a:ea typeface="Arial"/>
              </a:rPr>
              <a:t>Keystone components are included, but require configuration by the designer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Open Sans"/>
                <a:ea typeface="Arial"/>
              </a:rPr>
              <a:t>Extending Keystone in simulation requires some re-configuration of gem5 class structures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Open Sans"/>
                <a:ea typeface="Arial"/>
              </a:rPr>
              <a:t>For this work, communication between each core and the Memory Encryption Engine requires defining either a new packet type or port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579960" y="17087400"/>
            <a:ext cx="10162800" cy="840960"/>
          </a:xfrm>
          <a:prstGeom prst="rect">
            <a:avLst/>
          </a:prstGeom>
          <a:solidFill>
            <a:srgbClr val="21314d"/>
          </a:solidFill>
          <a:ln w="29160">
            <a:solidFill>
              <a:srgbClr val="00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4400" rIns="104400" tIns="59400" bIns="594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pc="-1" strike="noStrike">
                <a:solidFill>
                  <a:srgbClr val="ffffff"/>
                </a:solidFill>
                <a:latin typeface="Bree Serif"/>
                <a:ea typeface="Arial"/>
              </a:rPr>
              <a:t>Motivation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615960" y="25367400"/>
            <a:ext cx="10126800" cy="840960"/>
          </a:xfrm>
          <a:prstGeom prst="rect">
            <a:avLst/>
          </a:prstGeom>
          <a:solidFill>
            <a:srgbClr val="21314d"/>
          </a:solidFill>
          <a:ln w="0">
            <a:solidFill>
              <a:srgbClr val="000000"/>
            </a:solidFill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4800" spc="-1" strike="noStrike">
                <a:solidFill>
                  <a:srgbClr val="ffffff"/>
                </a:solidFill>
                <a:latin typeface="Bree Serif"/>
                <a:ea typeface="Arial"/>
              </a:rPr>
              <a:t>Challenges</a:t>
            </a:r>
            <a:endParaRPr b="0" lang="en-US" sz="4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17146800" y="30108960"/>
            <a:ext cx="360" cy="523440"/>
          </a:xfrm>
          <a:prstGeom prst="line">
            <a:avLst/>
          </a:prstGeom>
          <a:ln w="381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16232400" y="30632400"/>
            <a:ext cx="1827720" cy="684720"/>
          </a:xfrm>
          <a:prstGeom prst="roundRect">
            <a:avLst>
              <a:gd name="adj" fmla="val 16667"/>
            </a:avLst>
          </a:prstGeom>
          <a:noFill/>
          <a:ln w="38160">
            <a:solidFill>
              <a:srgbClr val="ff0000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09080" rIns="109080" tIns="64080" bIns="64080" anchor="ctr">
            <a:noAutofit/>
          </a:bodyPr>
          <a:p>
            <a:pPr algn="ctr">
              <a:lnSpc>
                <a:spcPct val="100000"/>
              </a:lnSpc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  <a:ea typeface="Arial"/>
              </a:rPr>
              <a:t>Tools for Extension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5" name=""/>
          <p:cNvSpPr/>
          <p:nvPr/>
        </p:nvSpPr>
        <p:spPr>
          <a:xfrm flipV="1">
            <a:off x="11988720" y="29293200"/>
            <a:ext cx="8887680" cy="53280"/>
          </a:xfrm>
          <a:prstGeom prst="line">
            <a:avLst/>
          </a:prstGeom>
          <a:ln cap="rnd" w="29160">
            <a:solidFill>
              <a:srgbClr val="3465a4"/>
            </a:solidFill>
            <a:prstDash val="sysDot"/>
            <a:round/>
          </a:ln>
        </p:spPr>
        <p:style>
          <a:lnRef idx="0"/>
          <a:fillRef idx="0"/>
          <a:effectRef idx="0"/>
          <a:fontRef idx="minor"/>
        </p:style>
        <p:txBody>
          <a:bodyPr lIns="104760" rIns="104760" tIns="22320" bIns="2232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  <a:ea typeface="Arial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27421200" y="2971800"/>
            <a:ext cx="4800600" cy="18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5600" spc="-1" strike="noStrike">
                <a:solidFill>
                  <a:srgbClr val="ffffff"/>
                </a:solidFill>
                <a:latin typeface="Open Sans"/>
                <a:ea typeface="Open Sans"/>
              </a:rPr>
              <a:t>Pooja Rao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7" name=""/>
          <p:cNvSpPr txBox="1"/>
          <p:nvPr/>
        </p:nvSpPr>
        <p:spPr>
          <a:xfrm>
            <a:off x="19545480" y="2971800"/>
            <a:ext cx="4800600" cy="18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5600" spc="-1" strike="noStrike">
                <a:solidFill>
                  <a:srgbClr val="ffffff"/>
                </a:solidFill>
                <a:latin typeface="Open Sans"/>
                <a:ea typeface="Open Sans"/>
              </a:rPr>
              <a:t>Iris Bahar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9421920" y="2971800"/>
            <a:ext cx="4800600" cy="182880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algn="ctr" defTabSz="3760920">
              <a:lnSpc>
                <a:spcPct val="100000"/>
              </a:lnSpc>
              <a:spcBef>
                <a:spcPts val="1120"/>
              </a:spcBef>
              <a:tabLst>
                <a:tab algn="l" pos="0"/>
              </a:tabLst>
            </a:pPr>
            <a:r>
              <a:rPr b="0" lang="en-US" sz="5600" spc="-1" strike="noStrike">
                <a:solidFill>
                  <a:srgbClr val="ffffff"/>
                </a:solidFill>
                <a:latin typeface="Open Sans"/>
                <a:ea typeface="Open Sans"/>
              </a:rPr>
              <a:t>Will Buziak</a:t>
            </a:r>
            <a:endParaRPr b="0" lang="en-US" sz="56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Default Design">
  <a:themeElements>
    <a:clrScheme name="Slipstream">
      <a:dk1>
        <a:srgbClr val="000000"/>
      </a:dk1>
      <a:lt1>
        <a:srgbClr val="ffffff"/>
      </a:lt1>
      <a:dk2>
        <a:srgbClr val="212745"/>
      </a:dk2>
      <a:lt2>
        <a:srgbClr val="b4dcfa"/>
      </a:lt2>
      <a:accent1>
        <a:srgbClr val="4e67c8"/>
      </a:accent1>
      <a:accent2>
        <a:srgbClr val="5eccf3"/>
      </a:accent2>
      <a:accent3>
        <a:srgbClr val="a7ea52"/>
      </a:accent3>
      <a:accent4>
        <a:srgbClr val="5dceaf"/>
      </a:accent4>
      <a:accent5>
        <a:srgbClr val="ff8021"/>
      </a:accent5>
      <a:accent6>
        <a:srgbClr val="f14124"/>
      </a:accent6>
      <a:hlink>
        <a:srgbClr val="56c7aa"/>
      </a:hlink>
      <a:folHlink>
        <a:srgbClr val="59a8d1"/>
      </a:folHlink>
    </a:clrScheme>
    <a:fontScheme name="Default Design">
      <a:majorFont>
        <a:latin typeface="Arial" pitchFamily="0" charset="1"/>
        <a:ea typeface="Arial" pitchFamily="0" charset="1"/>
        <a:cs typeface="Arial" pitchFamily="0" charset="1"/>
      </a:majorFont>
      <a:minorFont>
        <a:latin typeface="Arial" pitchFamily="0" charset="1"/>
        <a:ea typeface="Arial" pitchFamily="0" charset="1"/>
        <a:cs typeface="Arial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377</TotalTime>
  <Application>LibreOffice/24.2.7.2$Linux_X86_64 LibreOffice_project/420$Build-2</Application>
  <AppVersion>15.0000</AppVersion>
  <Paragraphs>16</Paragraphs>
  <Company>Graphicsland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category>scientific poster template</cp:category>
  <dc:creator>Graphicsland/MakeSigns.com</dc:creator>
  <dc:description>This is a free template from MakeSigns.com to help you create the perfect scientific poster.</dc:description>
  <cp:keywords>scientific research template custom poster presentation symposium printing PowerPoint create design example sample download</cp:keywords>
  <dc:language>en-US</dc:language>
  <cp:lastModifiedBy/>
  <cp:lastPrinted>2025-01-19T12:47:59Z</cp:lastPrinted>
  <dcterms:modified xsi:type="dcterms:W3CDTF">2026-01-13T13:47:21Z</dcterms:modified>
  <cp:revision>44</cp:revision>
  <dc:subject>Template For Scientific Poster Presentation</dc:subject>
  <dc:title>PowerPoint template for a scientific poster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1</vt:i4>
  </property>
</Properties>
</file>